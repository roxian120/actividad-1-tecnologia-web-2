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0932e2d4a5406d" /><Relationship Type="http://schemas.openxmlformats.org/officeDocument/2006/relationships/extended-properties" Target="/docProps/app.xml" Id="R02d80c87e6344ad5" /><Relationship Type="http://schemas.openxmlformats.org/officeDocument/2006/relationships/officeDocument" Target="/ppt/presentation.xml" Id="Rb17bd1df94fc49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6744a86849488b"/>
  </p:sldMasterIdLst>
  <p:notesMasterIdLst>
    <p:notesMasterId xmlns:r="http://schemas.openxmlformats.org/officeDocument/2006/relationships" r:id="Rc9eac343398744c0"/>
  </p:notesMasterIdLst>
  <p:sldIdLst>
    <p:sldId xmlns:r="http://schemas.openxmlformats.org/officeDocument/2006/relationships" id="256" r:id="Rb62f6a7028554044"/>
    <p:sldId xmlns:r="http://schemas.openxmlformats.org/officeDocument/2006/relationships" id="257" r:id="Rc74917b168124059"/>
    <p:sldId xmlns:r="http://schemas.openxmlformats.org/officeDocument/2006/relationships" id="258" r:id="R82b5735d7cdf4c2d"/>
    <p:sldId xmlns:r="http://schemas.openxmlformats.org/officeDocument/2006/relationships" id="259" r:id="Rcab72132dff74123"/>
    <p:sldId xmlns:r="http://schemas.openxmlformats.org/officeDocument/2006/relationships" id="260" r:id="Rda74c769dd0349dd"/>
    <p:sldId xmlns:r="http://schemas.openxmlformats.org/officeDocument/2006/relationships" id="261" r:id="Raf115ed484624068"/>
    <p:sldId xmlns:r="http://schemas.openxmlformats.org/officeDocument/2006/relationships" id="262" r:id="R8e58ea7176144b2f"/>
    <p:sldId xmlns:r="http://schemas.openxmlformats.org/officeDocument/2006/relationships" id="263" r:id="R5f8736a7cfca461c"/>
    <p:sldId xmlns:r="http://schemas.openxmlformats.org/officeDocument/2006/relationships" id="264" r:id="Rc50f1ca26f3740e3"/>
    <p:sldId xmlns:r="http://schemas.openxmlformats.org/officeDocument/2006/relationships" id="265" r:id="R9e97235de7ed40c4"/>
    <p:sldId xmlns:r="http://schemas.openxmlformats.org/officeDocument/2006/relationships" id="266" r:id="Rd8c23223fd7547f0"/>
    <p:sldId xmlns:r="http://schemas.openxmlformats.org/officeDocument/2006/relationships" id="267" r:id="Rdc6c3813edac439b"/>
    <p:sldId xmlns:r="http://schemas.openxmlformats.org/officeDocument/2006/relationships" id="268" r:id="Rc197062976654d85"/>
    <p:sldId xmlns:r="http://schemas.openxmlformats.org/officeDocument/2006/relationships" id="269" r:id="R9a7a0191e17d4ed4"/>
    <p:sldId xmlns:r="http://schemas.openxmlformats.org/officeDocument/2006/relationships" id="270" r:id="R82083fdb37114772"/>
    <p:sldId xmlns:r="http://schemas.openxmlformats.org/officeDocument/2006/relationships" id="271" r:id="R31e21c330fd94bd6"/>
    <p:sldId xmlns:r="http://schemas.openxmlformats.org/officeDocument/2006/relationships" id="272" r:id="R3b91eb381e3641b0"/>
    <p:sldId xmlns:r="http://schemas.openxmlformats.org/officeDocument/2006/relationships" id="273" r:id="R40d888d0674d42bb"/>
    <p:sldId xmlns:r="http://schemas.openxmlformats.org/officeDocument/2006/relationships" id="274" r:id="R3566292fd2184b47"/>
    <p:sldId xmlns:r="http://schemas.openxmlformats.org/officeDocument/2006/relationships" id="275" r:id="R4a45584515c84f59"/>
    <p:sldId xmlns:r="http://schemas.openxmlformats.org/officeDocument/2006/relationships" id="276" r:id="R5444dbe2359e406a"/>
    <p:sldId xmlns:r="http://schemas.openxmlformats.org/officeDocument/2006/relationships" id="277" r:id="Rd549d7dac4f64dd1"/>
    <p:sldId xmlns:r="http://schemas.openxmlformats.org/officeDocument/2006/relationships" id="278" r:id="Rd9918f79619642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72d34792847de" /><Relationship Type="http://schemas.openxmlformats.org/officeDocument/2006/relationships/slideMaster" Target="/ppt/slideMasters/slideMaster1.xml" Id="Rda6744a86849488b" /><Relationship Type="http://schemas.openxmlformats.org/officeDocument/2006/relationships/notesMaster" Target="/ppt/notesMasters/notesMaster1.xml" Id="Rc9eac343398744c0" /><Relationship Type="http://schemas.openxmlformats.org/officeDocument/2006/relationships/presProps" Target="/ppt/presProps.xml" Id="Re5d344c120044521" /><Relationship Type="http://schemas.openxmlformats.org/officeDocument/2006/relationships/tableStyles" Target="/ppt/tableStyles.xml" Id="R1bd8c2cea5474c76" /><Relationship Type="http://schemas.openxmlformats.org/officeDocument/2006/relationships/slide" Target="/ppt/slides/slide1.xml" Id="Rb62f6a7028554044" /><Relationship Type="http://schemas.openxmlformats.org/officeDocument/2006/relationships/slide" Target="/ppt/slides/slide2.xml" Id="Rc74917b168124059" /><Relationship Type="http://schemas.openxmlformats.org/officeDocument/2006/relationships/slide" Target="/ppt/slides/slide3.xml" Id="R82b5735d7cdf4c2d" /><Relationship Type="http://schemas.openxmlformats.org/officeDocument/2006/relationships/slide" Target="/ppt/slides/slide4.xml" Id="Rcab72132dff74123" /><Relationship Type="http://schemas.openxmlformats.org/officeDocument/2006/relationships/slide" Target="/ppt/slides/slide5.xml" Id="Rda74c769dd0349dd" /><Relationship Type="http://schemas.openxmlformats.org/officeDocument/2006/relationships/slide" Target="/ppt/slides/slide6.xml" Id="Raf115ed484624068" /><Relationship Type="http://schemas.openxmlformats.org/officeDocument/2006/relationships/slide" Target="/ppt/slides/slide7.xml" Id="R8e58ea7176144b2f" /><Relationship Type="http://schemas.openxmlformats.org/officeDocument/2006/relationships/slide" Target="/ppt/slides/slide8.xml" Id="R5f8736a7cfca461c" /><Relationship Type="http://schemas.openxmlformats.org/officeDocument/2006/relationships/slide" Target="/ppt/slides/slide9.xml" Id="Rc50f1ca26f3740e3" /><Relationship Type="http://schemas.openxmlformats.org/officeDocument/2006/relationships/slide" Target="/ppt/slides/slide10.xml" Id="R9e97235de7ed40c4" /><Relationship Type="http://schemas.openxmlformats.org/officeDocument/2006/relationships/slide" Target="/ppt/slides/slide11.xml" Id="Rd8c23223fd7547f0" /><Relationship Type="http://schemas.openxmlformats.org/officeDocument/2006/relationships/slide" Target="/ppt/slides/slide12.xml" Id="Rdc6c3813edac439b" /><Relationship Type="http://schemas.openxmlformats.org/officeDocument/2006/relationships/slide" Target="/ppt/slides/slide13.xml" Id="Rc197062976654d85" /><Relationship Type="http://schemas.openxmlformats.org/officeDocument/2006/relationships/slide" Target="/ppt/slides/slide14.xml" Id="R9a7a0191e17d4ed4" /><Relationship Type="http://schemas.openxmlformats.org/officeDocument/2006/relationships/slide" Target="/ppt/slides/slide15.xml" Id="R82083fdb37114772" /><Relationship Type="http://schemas.openxmlformats.org/officeDocument/2006/relationships/slide" Target="/ppt/slides/slide16.xml" Id="R31e21c330fd94bd6" /><Relationship Type="http://schemas.openxmlformats.org/officeDocument/2006/relationships/slide" Target="/ppt/slides/slide17.xml" Id="R3b91eb381e3641b0" /><Relationship Type="http://schemas.openxmlformats.org/officeDocument/2006/relationships/slide" Target="/ppt/slides/slide18.xml" Id="R40d888d0674d42bb" /><Relationship Type="http://schemas.openxmlformats.org/officeDocument/2006/relationships/slide" Target="/ppt/slides/slide19.xml" Id="R3566292fd2184b47" /><Relationship Type="http://schemas.openxmlformats.org/officeDocument/2006/relationships/slide" Target="/ppt/slides/slide20.xml" Id="R4a45584515c84f59" /><Relationship Type="http://schemas.openxmlformats.org/officeDocument/2006/relationships/slide" Target="/ppt/slides/slide21.xml" Id="R5444dbe2359e406a" /><Relationship Type="http://schemas.openxmlformats.org/officeDocument/2006/relationships/slide" Target="/ppt/slides/slide22.xml" Id="Rd549d7dac4f64dd1" /><Relationship Type="http://schemas.openxmlformats.org/officeDocument/2006/relationships/slide" Target="/ppt/slides/slide23.xml" Id="Rd9918f79619642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86579873c24a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8711260bbd4ae9" /><Relationship Type="http://schemas.openxmlformats.org/officeDocument/2006/relationships/notesMaster" Target="/ppt/notesMasters/notesMaster1.xml" Id="Rb9e5d332d86f45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fa10442a4940e6" /><Relationship Type="http://schemas.openxmlformats.org/officeDocument/2006/relationships/notesMaster" Target="/ppt/notesMasters/notesMaster1.xml" Id="R642b2dfe588a4c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01153e481241a3" /><Relationship Type="http://schemas.openxmlformats.org/officeDocument/2006/relationships/notesMaster" Target="/ppt/notesMasters/notesMaster1.xml" Id="Reabbc3ada12845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26a6a5f4642d7" /><Relationship Type="http://schemas.openxmlformats.org/officeDocument/2006/relationships/notesMaster" Target="/ppt/notesMasters/notesMaster1.xml" Id="R48265c35af8341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9ce04533eb430a" /><Relationship Type="http://schemas.openxmlformats.org/officeDocument/2006/relationships/notesMaster" Target="/ppt/notesMasters/notesMaster1.xml" Id="R01dccdf39bcf47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6ec4ef32704ead" /><Relationship Type="http://schemas.openxmlformats.org/officeDocument/2006/relationships/notesMaster" Target="/ppt/notesMasters/notesMaster1.xml" Id="Ra6d0c874c2a046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0ef04627f74dc3" /><Relationship Type="http://schemas.openxmlformats.org/officeDocument/2006/relationships/notesMaster" Target="/ppt/notesMasters/notesMaster1.xml" Id="R2979327294014e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fc583931cc43ae" /><Relationship Type="http://schemas.openxmlformats.org/officeDocument/2006/relationships/notesMaster" Target="/ppt/notesMasters/notesMaster1.xml" Id="R5176639028f14e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9e874ea2d74931" /><Relationship Type="http://schemas.openxmlformats.org/officeDocument/2006/relationships/notesMaster" Target="/ppt/notesMasters/notesMaster1.xml" Id="Rbcdfabca752844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820b19c4b64066" /><Relationship Type="http://schemas.openxmlformats.org/officeDocument/2006/relationships/notesMaster" Target="/ppt/notesMasters/notesMaster1.xml" Id="R0b2930cf95514d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feb298a4894f67" /><Relationship Type="http://schemas.openxmlformats.org/officeDocument/2006/relationships/notesMaster" Target="/ppt/notesMasters/notesMaster1.xml" Id="R5775f3ffc93348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66b8c8f98a4ac9" /><Relationship Type="http://schemas.openxmlformats.org/officeDocument/2006/relationships/notesMaster" Target="/ppt/notesMasters/notesMaster1.xml" Id="Rf2c1c5d7d06c4e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a4d82babbc4525" /><Relationship Type="http://schemas.openxmlformats.org/officeDocument/2006/relationships/notesMaster" Target="/ppt/notesMasters/notesMaster1.xml" Id="R2500d392b4aa47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99f239380246b6" /><Relationship Type="http://schemas.openxmlformats.org/officeDocument/2006/relationships/notesMaster" Target="/ppt/notesMasters/notesMaster1.xml" Id="R0994a498ef4947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d773c9a4894d0f" /><Relationship Type="http://schemas.openxmlformats.org/officeDocument/2006/relationships/notesMaster" Target="/ppt/notesMasters/notesMaster1.xml" Id="Ra3c39c9c9b834a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d27ef6bb4e41f0" /><Relationship Type="http://schemas.openxmlformats.org/officeDocument/2006/relationships/notesMaster" Target="/ppt/notesMasters/notesMaster1.xml" Id="Rec99d51db2024d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1e1529ff134f78" /><Relationship Type="http://schemas.openxmlformats.org/officeDocument/2006/relationships/notesMaster" Target="/ppt/notesMasters/notesMaster1.xml" Id="R75c333dfae9648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4f03d17dde4e6d" /><Relationship Type="http://schemas.openxmlformats.org/officeDocument/2006/relationships/notesMaster" Target="/ppt/notesMasters/notesMaster1.xml" Id="R8df8c944cdeb41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61d425120e427d" /><Relationship Type="http://schemas.openxmlformats.org/officeDocument/2006/relationships/notesMaster" Target="/ppt/notesMasters/notesMaster1.xml" Id="Rbadb2f08455c4f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c064af96e64e1d" /><Relationship Type="http://schemas.openxmlformats.org/officeDocument/2006/relationships/notesMaster" Target="/ppt/notesMasters/notesMaster1.xml" Id="R7622f621265443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1337c2c99a4e0f" /><Relationship Type="http://schemas.openxmlformats.org/officeDocument/2006/relationships/notesMaster" Target="/ppt/notesMasters/notesMaster1.xml" Id="R28c59a80840d4a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37ed6bca6a4d62" /><Relationship Type="http://schemas.openxmlformats.org/officeDocument/2006/relationships/notesMaster" Target="/ppt/notesMasters/notesMaster1.xml" Id="R85dedbb000a042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63806d6f274df7" /><Relationship Type="http://schemas.openxmlformats.org/officeDocument/2006/relationships/notesMaster" Target="/ppt/notesMasters/notesMaster1.xml" Id="R5a5d3eb2a52e40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9f2e8324143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cf9e94c794a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8ca83e5fa49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283e7f6394f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b570bb47246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8bf03cafc45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D2B117-6DB2-4F7E-8D3E-D9D3744EF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F4233B-850D-4844-AFBB-92809920E6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5235F2-30EF-4E63-B3AB-7268799EC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2783BA-BC97-49D3-BA33-F87C01E359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406F81-12FD-4DC7-B5E1-BEA38FE83F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190D81-E9A1-400F-BAC2-41B390EE2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A725CD-E6E0-46C9-AD55-60F771410D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D2C4E2-2459-4782-B6E4-4736C181C2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2DEA4-9DF1-4FA6-830E-21D4068D0A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41F1E5-8919-421A-A1D1-42D2852276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ce933b6e6545eb" /><Relationship Type="http://schemas.openxmlformats.org/officeDocument/2006/relationships/slideLayout" Target="/ppt/slideLayouts/slideLayout1.xml" Id="R43fbd87fc0ef47fc" /><Relationship Type="http://schemas.openxmlformats.org/officeDocument/2006/relationships/slideLayout" Target="/ppt/slideLayouts/slideLayout2.xml" Id="Ra827fbbf3a4148f9" /><Relationship Type="http://schemas.openxmlformats.org/officeDocument/2006/relationships/slideLayout" Target="/ppt/slideLayouts/slideLayout3.xml" Id="R32463b42dc2d431d" /><Relationship Type="http://schemas.openxmlformats.org/officeDocument/2006/relationships/slideLayout" Target="/ppt/slideLayouts/slideLayout4.xml" Id="R5be0c9bb12cd4fae" /><Relationship Type="http://schemas.openxmlformats.org/officeDocument/2006/relationships/slideLayout" Target="/ppt/slideLayouts/slideLayout5.xml" Id="R5296ba5479414a0b" /><Relationship Type="http://schemas.openxmlformats.org/officeDocument/2006/relationships/slideLayout" Target="/ppt/slideLayouts/slideLayout6.xml" Id="Rc2aa102dd95d49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fbd87fc0ef47fc"/>
    <p:sldLayoutId xmlns:r="http://schemas.openxmlformats.org/officeDocument/2006/relationships" id="2147483650" r:id="Ra827fbbf3a4148f9"/>
    <p:sldLayoutId xmlns:r="http://schemas.openxmlformats.org/officeDocument/2006/relationships" id="2147483651" r:id="R32463b42dc2d431d"/>
    <p:sldLayoutId xmlns:r="http://schemas.openxmlformats.org/officeDocument/2006/relationships" id="2147483652" r:id="R5be0c9bb12cd4fae"/>
    <p:sldLayoutId xmlns:r="http://schemas.openxmlformats.org/officeDocument/2006/relationships" id="2147483653" r:id="R5296ba5479414a0b"/>
    <p:sldLayoutId xmlns:r="http://schemas.openxmlformats.org/officeDocument/2006/relationships" id="2147483654" r:id="Rc2aa102dd95d49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795c01a094447" /><Relationship Type="http://schemas.openxmlformats.org/officeDocument/2006/relationships/notesSlide" Target="/ppt/notesSlides/notesSlide1.xml" Id="R6244c8d5472349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c3a41200040b1" /><Relationship Type="http://schemas.openxmlformats.org/officeDocument/2006/relationships/notesSlide" Target="/ppt/notesSlides/notesSlide2.xml" Id="R54a30cac039648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0f9ed7c8a454b" /><Relationship Type="http://schemas.openxmlformats.org/officeDocument/2006/relationships/notesSlide" Target="/ppt/notesSlides/notesSlide3.xml" Id="Rb0cb71b91a8c4d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7140664b8415c" /><Relationship Type="http://schemas.openxmlformats.org/officeDocument/2006/relationships/notesSlide" Target="/ppt/notesSlides/notesSlide4.xml" Id="Rc84be249a7c6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9a1e0bc8e453f" /><Relationship Type="http://schemas.openxmlformats.org/officeDocument/2006/relationships/image" Target="/ppt/media/image.png" Id="R462c2edf5d0942fb" /><Relationship Type="http://schemas.openxmlformats.org/officeDocument/2006/relationships/notesSlide" Target="/ppt/notesSlides/notesSlide5.xml" Id="Rd04e3c1c251e4b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9b82ff94f43be" /><Relationship Type="http://schemas.openxmlformats.org/officeDocument/2006/relationships/notesSlide" Target="/ppt/notesSlides/notesSlide6.xml" Id="Re258a808846b4d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84821a2b34284" /><Relationship Type="http://schemas.openxmlformats.org/officeDocument/2006/relationships/notesSlide" Target="/ppt/notesSlides/notesSlide7.xml" Id="R26afd93c5cc04f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ba473bd404ed3" /><Relationship Type="http://schemas.openxmlformats.org/officeDocument/2006/relationships/image" Target="/ppt/media/image2.png" Id="Rf849e8c90bf943df" /><Relationship Type="http://schemas.openxmlformats.org/officeDocument/2006/relationships/notesSlide" Target="/ppt/notesSlides/notesSlide8.xml" Id="Rdd5b13ca71f74e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b661b07db47bd" /><Relationship Type="http://schemas.openxmlformats.org/officeDocument/2006/relationships/image" Target="/ppt/media/image3.png" Id="R92945280c5654afc" /><Relationship Type="http://schemas.openxmlformats.org/officeDocument/2006/relationships/notesSlide" Target="/ppt/notesSlides/notesSlide9.xml" Id="Rcb47d4e998b740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7f6e3fc464141" /><Relationship Type="http://schemas.openxmlformats.org/officeDocument/2006/relationships/image" Target="/ppt/media/image4.png" Id="Rc7cbf2e6698c4ddc" /><Relationship Type="http://schemas.openxmlformats.org/officeDocument/2006/relationships/notesSlide" Target="/ppt/notesSlides/notesSlide10.xml" Id="Re02c9b84efd14c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f0a9b81964c1a" /><Relationship Type="http://schemas.openxmlformats.org/officeDocument/2006/relationships/notesSlide" Target="/ppt/notesSlides/notesSlide11.xml" Id="Rd4d84e2f0efc4a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73fad8a5724842" /><Relationship Type="http://schemas.openxmlformats.org/officeDocument/2006/relationships/notesSlide" Target="/ppt/notesSlides/notesSlide12.xml" Id="R7246101ea19345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244a24e85438f" /><Relationship Type="http://schemas.openxmlformats.org/officeDocument/2006/relationships/notesSlide" Target="/ppt/notesSlides/notesSlide13.xml" Id="R58f1f52142e94a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76d92faa8477f" /><Relationship Type="http://schemas.openxmlformats.org/officeDocument/2006/relationships/notesSlide" Target="/ppt/notesSlides/notesSlide14.xml" Id="Rab4162137e9a44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d0bfa53374189" /><Relationship Type="http://schemas.openxmlformats.org/officeDocument/2006/relationships/notesSlide" Target="/ppt/notesSlides/notesSlide15.xml" Id="Rbaec8958b48c4a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62ebb3e2ee4806" /><Relationship Type="http://schemas.openxmlformats.org/officeDocument/2006/relationships/notesSlide" Target="/ppt/notesSlides/notesSlide16.xml" Id="Radffd4e3335c45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57f997adc421e" /><Relationship Type="http://schemas.openxmlformats.org/officeDocument/2006/relationships/notesSlide" Target="/ppt/notesSlides/notesSlide17.xml" Id="R6b3589122d6b46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e79fe90af4e0b" /><Relationship Type="http://schemas.openxmlformats.org/officeDocument/2006/relationships/notesSlide" Target="/ppt/notesSlides/notesSlide18.xml" Id="Reec528c8e2e24e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008fb4f704df0" /><Relationship Type="http://schemas.openxmlformats.org/officeDocument/2006/relationships/image" Target="/ppt/media/image5.png" Id="Rfdd23db59a074be0" /><Relationship Type="http://schemas.openxmlformats.org/officeDocument/2006/relationships/notesSlide" Target="/ppt/notesSlides/notesSlide19.xml" Id="R5bb2f735e4f047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bd51dff9a41a2" /><Relationship Type="http://schemas.openxmlformats.org/officeDocument/2006/relationships/image" Target="/ppt/media/image6.png" Id="R0227c8e651a24e00" /><Relationship Type="http://schemas.openxmlformats.org/officeDocument/2006/relationships/notesSlide" Target="/ppt/notesSlides/notesSlide20.xml" Id="Rc30e9914c80a48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bd5dc5e6545e5" /><Relationship Type="http://schemas.openxmlformats.org/officeDocument/2006/relationships/image" Target="/ppt/media/image7.png" Id="R6c07224ea2034fa1" /><Relationship Type="http://schemas.openxmlformats.org/officeDocument/2006/relationships/notesSlide" Target="/ppt/notesSlides/notesSlide21.xml" Id="R2d6d94f4bbde42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bee98ce744972" /><Relationship Type="http://schemas.openxmlformats.org/officeDocument/2006/relationships/notesSlide" Target="/ppt/notesSlides/notesSlide22.xml" Id="Rb61981d79cfa450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96cb5512284c21" /><Relationship Type="http://schemas.openxmlformats.org/officeDocument/2006/relationships/notesSlide" Target="/ppt/notesSlides/notesSlide23.xml" Id="R49723e50e70a4a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B84F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7560B-22C8-4A1D-A6E5-5596DFD1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BE8AA"/>
                </a:solidFill>
              </a:defRPr>
            </a:defPPr>
            <a:lvl1pPr>
              <a:defRPr sz="1275" b="1">
                <a:solidFill>
                  <a:srgbClr val="FBE8AA"/>
                </a:solidFill>
              </a:defRPr>
            </a:lvl1pPr>
            <a:lvl2pPr>
              <a:defRPr sz="1275" b="1">
                <a:solidFill>
                  <a:srgbClr val="FBE8AA"/>
                </a:solidFill>
              </a:defRPr>
            </a:lvl2pPr>
            <a:lvl3pPr>
              <a:defRPr sz="1275" b="1">
                <a:solidFill>
                  <a:srgbClr val="FBE8AA"/>
                </a:solidFill>
              </a:defRPr>
            </a:lvl3pPr>
            <a:lvl4pPr>
              <a:defRPr sz="1275" b="1">
                <a:solidFill>
                  <a:srgbClr val="FBE8AA"/>
                </a:solidFill>
              </a:defRPr>
            </a:lvl4pPr>
            <a:lvl5pPr>
              <a:defRPr sz="1275" b="1">
                <a:solidFill>
                  <a:srgbClr val="FBE8AA"/>
                </a:solidFill>
              </a:defRPr>
            </a:lvl5pPr>
            <a:lvl6pPr>
              <a:defRPr sz="1275" b="1">
                <a:solidFill>
                  <a:srgbClr val="FBE8AA"/>
                </a:solidFill>
              </a:defRPr>
            </a:lvl6pPr>
            <a:lvl7pPr>
              <a:defRPr sz="1275" b="1">
                <a:solidFill>
                  <a:srgbClr val="FBE8AA"/>
                </a:solidFill>
              </a:defRPr>
            </a:lvl7pPr>
            <a:lvl8pPr>
              <a:defRPr sz="1275" b="1">
                <a:solidFill>
                  <a:srgbClr val="FBE8AA"/>
                </a:solidFill>
              </a:defRPr>
            </a:lvl8pPr>
            <a:lvl9pPr>
              <a:defRPr sz="127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BE8AA"/>
                </a:solidFill>
              </a:defRPr>
            </a:pPr>
            <a:r>
              <a:rPr sz="1275" b="1">
                <a:solidFill>
                  <a:srgbClr val="FBE8AA"/>
                </a:solidFill>
              </a:rPr>
              <a:t>ACTIVIDAD 3 · TECNOLOGÍA WEB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94DB2-82EA-4758-8B70-FDE1091C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9001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FFFFFF"/>
                </a:solidFill>
              </a:defRPr>
            </a:defPPr>
            <a:lvl1pPr>
              <a:defRPr sz="3525" b="1">
                <a:solidFill>
                  <a:srgbClr val="FFFFFF"/>
                </a:solidFill>
              </a:defRPr>
            </a:lvl1pPr>
            <a:lvl2pPr>
              <a:defRPr sz="3525" b="1">
                <a:solidFill>
                  <a:srgbClr val="FFFFFF"/>
                </a:solidFill>
              </a:defRPr>
            </a:lvl2pPr>
            <a:lvl3pPr>
              <a:defRPr sz="3525" b="1">
                <a:solidFill>
                  <a:srgbClr val="FFFFFF"/>
                </a:solidFill>
              </a:defRPr>
            </a:lvl3pPr>
            <a:lvl4pPr>
              <a:defRPr sz="3525" b="1">
                <a:solidFill>
                  <a:srgbClr val="FFFFFF"/>
                </a:solidFill>
              </a:defRPr>
            </a:lvl4pPr>
            <a:lvl5pPr>
              <a:defRPr sz="3525" b="1">
                <a:solidFill>
                  <a:srgbClr val="FFFFFF"/>
                </a:solidFill>
              </a:defRPr>
            </a:lvl5pPr>
            <a:lvl6pPr>
              <a:defRPr sz="3525" b="1">
                <a:solidFill>
                  <a:srgbClr val="FFFFFF"/>
                </a:solidFill>
              </a:defRPr>
            </a:lvl6pPr>
            <a:lvl7pPr>
              <a:defRPr sz="3525" b="1">
                <a:solidFill>
                  <a:srgbClr val="FFFFFF"/>
                </a:solidFill>
              </a:defRPr>
            </a:lvl7pPr>
            <a:lvl8pPr>
              <a:defRPr sz="3525" b="1">
                <a:solidFill>
                  <a:srgbClr val="FFFFFF"/>
                </a:solidFill>
              </a:defRPr>
            </a:lvl8pPr>
            <a:lvl9pPr>
              <a:defRPr sz="3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Seguridad, transacciones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y reportes en MySQL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80DBD-033A-4EEB-804F-ECC0904F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BE8AA"/>
                </a:solidFill>
              </a:defRPr>
            </a:defPPr>
            <a:lvl1pPr>
              <a:defRPr sz="1725" b="0">
                <a:solidFill>
                  <a:srgbClr val="FBE8AA"/>
                </a:solidFill>
              </a:defRPr>
            </a:lvl1pPr>
            <a:lvl2pPr>
              <a:defRPr sz="1725" b="0">
                <a:solidFill>
                  <a:srgbClr val="FBE8AA"/>
                </a:solidFill>
              </a:defRPr>
            </a:lvl2pPr>
            <a:lvl3pPr>
              <a:defRPr sz="1725" b="0">
                <a:solidFill>
                  <a:srgbClr val="FBE8AA"/>
                </a:solidFill>
              </a:defRPr>
            </a:lvl3pPr>
            <a:lvl4pPr>
              <a:defRPr sz="1725" b="0">
                <a:solidFill>
                  <a:srgbClr val="FBE8AA"/>
                </a:solidFill>
              </a:defRPr>
            </a:lvl4pPr>
            <a:lvl5pPr>
              <a:defRPr sz="1725" b="0">
                <a:solidFill>
                  <a:srgbClr val="FBE8AA"/>
                </a:solidFill>
              </a:defRPr>
            </a:lvl5pPr>
            <a:lvl6pPr>
              <a:defRPr sz="1725" b="0">
                <a:solidFill>
                  <a:srgbClr val="FBE8AA"/>
                </a:solidFill>
              </a:defRPr>
            </a:lvl6pPr>
            <a:lvl7pPr>
              <a:defRPr sz="1725" b="0">
                <a:solidFill>
                  <a:srgbClr val="FBE8AA"/>
                </a:solidFill>
              </a:defRPr>
            </a:lvl7pPr>
            <a:lvl8pPr>
              <a:defRPr sz="1725" b="0">
                <a:solidFill>
                  <a:srgbClr val="FBE8AA"/>
                </a:solidFill>
              </a:defRPr>
            </a:lvl8pPr>
            <a:lvl9pPr>
              <a:defRPr sz="1725" b="0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BE8AA"/>
                </a:solidFill>
              </a:defRPr>
            </a:pPr>
            <a:r>
              <a:rPr sz="1725" b="0">
                <a:solidFill>
                  <a:srgbClr val="FBE8AA"/>
                </a:solidFill>
              </a:rPr>
              <a:t>Guion explicativo para la defensa de los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8F1DD-31D4-434E-A726-C96610C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78"/>
          </a:solidFill>
          <a:ln xmlns:a="http://schemas.openxmlformats.org/drawingml/2006/main" w="0">
            <a:solidFill>
              <a:srgbClr val="E9C7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F9A86-A669-441C-9644-ECF585B0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Aplicación: Apicultores Flor de la Chiquitanía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Estudiante: Rodrigo Ledezma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Fecha: 23 de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45722-2975-44FA-A56A-85C9D125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910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El objetivo no fue solo “hacer funcionar” la aplicación: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también fue proteger los datos, controlar los permisos y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registrar operaciones consistentes.</a:t>
            </a:r>
          </a:p>
        </p:txBody>
      </p:sp>
    </p:spTree>
    <p:extLst>
      <p:ext uri="{BB962C8B-B14F-4D97-AF65-F5344CB8AC3E}">
        <p14:creationId xmlns:p14="http://schemas.microsoft.com/office/powerpoint/2010/main" val="1759281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57925-5F24-45A8-83D3-6B12F576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F3ADE-8D93-4986-84F2-713AAFE2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3EC87-E2DA-4175-9F82-7A114550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89BCC-A910-4F5A-A7BF-7EB15935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Qué se construyó y por qué importa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40A24-9AC4-4255-902E-95B75862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2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B06CA-3A09-40F9-A6DB-83FA4D00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PROPÓSITO DE LA ACTIVIDAD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BBC6E-B2A5-4A7A-B9DC-3B10A585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536"/>
                </a:solidFill>
              </a:defRPr>
            </a:defPPr>
            <a:lvl1pPr>
              <a:defRPr sz="1725" b="1">
                <a:solidFill>
                  <a:srgbClr val="172536"/>
                </a:solidFill>
              </a:defRPr>
            </a:lvl1pPr>
            <a:lvl2pPr>
              <a:defRPr sz="1725" b="1">
                <a:solidFill>
                  <a:srgbClr val="172536"/>
                </a:solidFill>
              </a:defRPr>
            </a:lvl2pPr>
            <a:lvl3pPr>
              <a:defRPr sz="1725" b="1">
                <a:solidFill>
                  <a:srgbClr val="172536"/>
                </a:solidFill>
              </a:defRPr>
            </a:lvl3pPr>
            <a:lvl4pPr>
              <a:defRPr sz="1725" b="1">
                <a:solidFill>
                  <a:srgbClr val="172536"/>
                </a:solidFill>
              </a:defRPr>
            </a:lvl4pPr>
            <a:lvl5pPr>
              <a:defRPr sz="1725" b="1">
                <a:solidFill>
                  <a:srgbClr val="172536"/>
                </a:solidFill>
              </a:defRPr>
            </a:lvl5pPr>
            <a:lvl6pPr>
              <a:defRPr sz="1725" b="1">
                <a:solidFill>
                  <a:srgbClr val="172536"/>
                </a:solidFill>
              </a:defRPr>
            </a:lvl6pPr>
            <a:lvl7pPr>
              <a:defRPr sz="1725" b="1">
                <a:solidFill>
                  <a:srgbClr val="172536"/>
                </a:solidFill>
              </a:defRPr>
            </a:lvl7pPr>
            <a:lvl8pPr>
              <a:defRPr sz="1725" b="1">
                <a:solidFill>
                  <a:srgbClr val="172536"/>
                </a:solidFill>
              </a:defRPr>
            </a:lvl8pPr>
            <a:lvl9pPr>
              <a:defRPr sz="17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536"/>
                </a:solidFill>
              </a:defRPr>
            </a:pPr>
            <a:r>
              <a:rPr sz="1725" b="1">
                <a:solidFill>
                  <a:srgbClr val="172536"/>
                </a:solidFill>
              </a:rPr>
              <a:t>Se amplió el catálogo de productos para que los usuarios ingresen de forma segura, registren movimientos de inventario y consulten información administrativa verificable.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B96DB-1766-4E0E-9B35-6FA326D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C6377-A793-4E43-99CF-08AF3D8C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Laboratorio 10 · Seguridad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03C23-3887-4E74-A271-529B8F2E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Inicio de sesión, contraseñas con bcrypt, sesiones, token CSRF, cabeceras HTTP y permisos según el 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BC98A-BE3E-49F6-8A2B-1FEE3CE2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8019E-1A58-4C83-8805-3FDC17CD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813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Laboratorio 11 · Operación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0FBA5-DCCE-44D5-A440-75AE343C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86175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Ventas y acopios dentro de transacciones, control de stock, reportes SQL y exportación CSV segura.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D78F0-8D8D-4984-B8AC-61040205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4CCA2-8032-4A09-AD17-E2414F95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813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Evidencia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A1C04-DA32-4945-A8FD-7459E1E1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86175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Las pruebas automáticas comprobaron 15 de 15 requisitos en cada laboratorio; además se muestran las pantallas reales.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E3839-DAD6-4CE3-956D-25A739A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4F00"/>
                </a:solidFill>
              </a:defRPr>
            </a:defPPr>
            <a:lvl1pPr>
              <a:defRPr sz="1425" b="1">
                <a:solidFill>
                  <a:srgbClr val="B84F00"/>
                </a:solidFill>
              </a:defRPr>
            </a:lvl1pPr>
            <a:lvl2pPr>
              <a:defRPr sz="1425" b="1">
                <a:solidFill>
                  <a:srgbClr val="B84F00"/>
                </a:solidFill>
              </a:defRPr>
            </a:lvl2pPr>
            <a:lvl3pPr>
              <a:defRPr sz="1425" b="1">
                <a:solidFill>
                  <a:srgbClr val="B84F00"/>
                </a:solidFill>
              </a:defRPr>
            </a:lvl3pPr>
            <a:lvl4pPr>
              <a:defRPr sz="1425" b="1">
                <a:solidFill>
                  <a:srgbClr val="B84F00"/>
                </a:solidFill>
              </a:defRPr>
            </a:lvl4pPr>
            <a:lvl5pPr>
              <a:defRPr sz="1425" b="1">
                <a:solidFill>
                  <a:srgbClr val="B84F00"/>
                </a:solidFill>
              </a:defRPr>
            </a:lvl5pPr>
            <a:lvl6pPr>
              <a:defRPr sz="1425" b="1">
                <a:solidFill>
                  <a:srgbClr val="B84F00"/>
                </a:solidFill>
              </a:defRPr>
            </a:lvl6pPr>
            <a:lvl7pPr>
              <a:defRPr sz="1425" b="1">
                <a:solidFill>
                  <a:srgbClr val="B84F00"/>
                </a:solidFill>
              </a:defRPr>
            </a:lvl7pPr>
            <a:lvl8pPr>
              <a:defRPr sz="1425" b="1">
                <a:solidFill>
                  <a:srgbClr val="B84F00"/>
                </a:solidFill>
              </a:defRPr>
            </a:lvl8pPr>
            <a:lvl9pPr>
              <a:defRPr sz="14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4F00"/>
                </a:solidFill>
              </a:defRPr>
            </a:pPr>
            <a:r>
              <a:rPr sz="1425" b="1">
                <a:solidFill>
                  <a:srgbClr val="B84F00"/>
                </a:solidFill>
              </a:rPr>
              <a:t>Idea clave para explicar: la seguridad, el inventario y los reportes usan la misma base de datos; por eso toda operación debe respetar integridad y permisos.</a:t>
            </a:r>
          </a:p>
        </p:txBody>
      </p:sp>
    </p:spTree>
    <p:extLst>
      <p:ext uri="{BB962C8B-B14F-4D97-AF65-F5344CB8AC3E}">
        <p14:creationId xmlns:p14="http://schemas.microsoft.com/office/powerpoint/2010/main" val="1906876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12E7C-D58B-4469-B25D-AB66A08E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D074F-7DBF-4C23-9B8B-6D68789A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1FD54-DF39-4829-AD4D-1FDFF5D1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F7EF3-36D1-4388-8D1D-AB16472C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Datos, módulos y rutas principales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10ECA-8701-4D8C-990F-26693767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3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33C2E-7B69-4EA5-AFAC-C0E9DAE7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536"/>
                </a:solidFill>
              </a:defRPr>
            </a:defPPr>
            <a:lvl1pPr>
              <a:defRPr sz="1650" b="1">
                <a:solidFill>
                  <a:srgbClr val="172536"/>
                </a:solidFill>
              </a:defRPr>
            </a:lvl1pPr>
            <a:lvl2pPr>
              <a:defRPr sz="1650" b="1">
                <a:solidFill>
                  <a:srgbClr val="172536"/>
                </a:solidFill>
              </a:defRPr>
            </a:lvl2pPr>
            <a:lvl3pPr>
              <a:defRPr sz="1650" b="1">
                <a:solidFill>
                  <a:srgbClr val="172536"/>
                </a:solidFill>
              </a:defRPr>
            </a:lvl3pPr>
            <a:lvl4pPr>
              <a:defRPr sz="1650" b="1">
                <a:solidFill>
                  <a:srgbClr val="172536"/>
                </a:solidFill>
              </a:defRPr>
            </a:lvl4pPr>
            <a:lvl5pPr>
              <a:defRPr sz="1650" b="1">
                <a:solidFill>
                  <a:srgbClr val="172536"/>
                </a:solidFill>
              </a:defRPr>
            </a:lvl5pPr>
            <a:lvl6pPr>
              <a:defRPr sz="1650" b="1">
                <a:solidFill>
                  <a:srgbClr val="172536"/>
                </a:solidFill>
              </a:defRPr>
            </a:lvl6pPr>
            <a:lvl7pPr>
              <a:defRPr sz="1650" b="1">
                <a:solidFill>
                  <a:srgbClr val="172536"/>
                </a:solidFill>
              </a:defRPr>
            </a:lvl7pPr>
            <a:lvl8pPr>
              <a:defRPr sz="1650" b="1">
                <a:solidFill>
                  <a:srgbClr val="172536"/>
                </a:solidFill>
              </a:defRPr>
            </a:lvl8pPr>
            <a:lvl9pPr>
              <a:defRPr sz="1650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536"/>
                </a:solidFill>
              </a:defRPr>
            </a:pPr>
            <a:r>
              <a:rPr sz="1650" b="1">
                <a:solidFill>
                  <a:srgbClr val="172536"/>
                </a:solidFill>
              </a:rPr>
              <a:t>La aplicación organiza la información para responder preguntas operativas sin duplicar datos.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46362-4797-4DA1-8AC5-ED33A033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4DDE4-1F49-47E5-88CA-E9144CAC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Catálogo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31C9D-188C-4A71-8168-3B6C3A82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socios, productos, categorías y usuarios. Cada producto pertenece a un socio; cada usuario tiene un 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474E2-2429-45DB-B887-4C4C4745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82D2A-CAFE-4981-828A-2674119A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Movimientos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AFCFC-A308-4137-8654-001523C6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479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ventas, venta_detalle y acopios. La cabecera de venta identifica al cliente y el detalle registra cada producto vendido.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9D60E-FFEE-4903-BF75-C6AED386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BE743-D495-4DC5-B588-0767D892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431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Consultas del usuario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2C5D5-4BAB-42DB-829D-40F78546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/entrar, /productos, /socios, /ventas/nueva, /reportes y /reportes/ventas.csv.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F65B0-CE93-4717-A71A-4C6C5A9B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E0B95-260F-434C-A426-5FB72BA4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8801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536"/>
                </a:solidFill>
              </a:defRPr>
            </a:defPPr>
            <a:lvl1pPr>
              <a:defRPr sz="1275" b="0">
                <a:solidFill>
                  <a:srgbClr val="172536"/>
                </a:solidFill>
              </a:defRPr>
            </a:lvl1pPr>
            <a:lvl2pPr>
              <a:defRPr sz="1275" b="0">
                <a:solidFill>
                  <a:srgbClr val="172536"/>
                </a:solidFill>
              </a:defRPr>
            </a:lvl2pPr>
            <a:lvl3pPr>
              <a:defRPr sz="1275" b="0">
                <a:solidFill>
                  <a:srgbClr val="172536"/>
                </a:solidFill>
              </a:defRPr>
            </a:lvl3pPr>
            <a:lvl4pPr>
              <a:defRPr sz="1275" b="0">
                <a:solidFill>
                  <a:srgbClr val="172536"/>
                </a:solidFill>
              </a:defRPr>
            </a:lvl4pPr>
            <a:lvl5pPr>
              <a:defRPr sz="1275" b="0">
                <a:solidFill>
                  <a:srgbClr val="172536"/>
                </a:solidFill>
              </a:defRPr>
            </a:lvl5pPr>
            <a:lvl6pPr>
              <a:defRPr sz="1275" b="0">
                <a:solidFill>
                  <a:srgbClr val="172536"/>
                </a:solidFill>
              </a:defRPr>
            </a:lvl6pPr>
            <a:lvl7pPr>
              <a:defRPr sz="1275" b="0">
                <a:solidFill>
                  <a:srgbClr val="172536"/>
                </a:solidFill>
              </a:defRPr>
            </a:lvl7pPr>
            <a:lvl8pPr>
              <a:defRPr sz="1275" b="0">
                <a:solidFill>
                  <a:srgbClr val="172536"/>
                </a:solidFill>
              </a:defRPr>
            </a:lvl8pPr>
            <a:lvl9pPr>
              <a:defRPr sz="1275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Flujo básico</a:t>
            </a:r>
          </a:p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1. El usuario se autentica.</a:t>
            </a:r>
          </a:p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2. PHP valida su rol y la petición.</a:t>
            </a:r>
          </a:p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3. Un repositorio PDO consulta o actualiza MySQL.</a:t>
            </a:r>
          </a:p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4. La respuesta muestra solo lo permitido.</a:t>
            </a:r>
          </a:p>
        </p:txBody>
      </p:sp>
    </p:spTree>
    <p:extLst>
      <p:ext uri="{BB962C8B-B14F-4D97-AF65-F5344CB8AC3E}">
        <p14:creationId xmlns:p14="http://schemas.microsoft.com/office/powerpoint/2010/main" val="1897651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3D2F8-F631-4E9C-BCED-BE8EE97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12A72-883D-44A5-B2AA-027F9D92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D661E-C2EA-4427-949C-366D02F3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4FD61-5378-4817-BEA1-A7A67CF4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Permisos por rol: el principio de mínimo privilegio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F12C4-AE12-42CE-8BDE-404CFAC4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4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09143-1784-4492-B10E-B1B4302E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536"/>
                </a:solidFill>
              </a:defRPr>
            </a:defPPr>
            <a:lvl1pPr>
              <a:defRPr sz="1575" b="1">
                <a:solidFill>
                  <a:srgbClr val="172536"/>
                </a:solidFill>
              </a:defRPr>
            </a:lvl1pPr>
            <a:lvl2pPr>
              <a:defRPr sz="1575" b="1">
                <a:solidFill>
                  <a:srgbClr val="172536"/>
                </a:solidFill>
              </a:defRPr>
            </a:lvl2pPr>
            <a:lvl3pPr>
              <a:defRPr sz="1575" b="1">
                <a:solidFill>
                  <a:srgbClr val="172536"/>
                </a:solidFill>
              </a:defRPr>
            </a:lvl3pPr>
            <a:lvl4pPr>
              <a:defRPr sz="1575" b="1">
                <a:solidFill>
                  <a:srgbClr val="172536"/>
                </a:solidFill>
              </a:defRPr>
            </a:lvl4pPr>
            <a:lvl5pPr>
              <a:defRPr sz="1575" b="1">
                <a:solidFill>
                  <a:srgbClr val="172536"/>
                </a:solidFill>
              </a:defRPr>
            </a:lvl5pPr>
            <a:lvl6pPr>
              <a:defRPr sz="1575" b="1">
                <a:solidFill>
                  <a:srgbClr val="172536"/>
                </a:solidFill>
              </a:defRPr>
            </a:lvl6pPr>
            <a:lvl7pPr>
              <a:defRPr sz="1575" b="1">
                <a:solidFill>
                  <a:srgbClr val="172536"/>
                </a:solidFill>
              </a:defRPr>
            </a:lvl7pPr>
            <a:lvl8pPr>
              <a:defRPr sz="1575" b="1">
                <a:solidFill>
                  <a:srgbClr val="172536"/>
                </a:solidFill>
              </a:defRPr>
            </a:lvl8pPr>
            <a:lvl9pPr>
              <a:defRPr sz="157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536"/>
                </a:solidFill>
              </a:defRPr>
            </a:pPr>
            <a:r>
              <a:rPr sz="1575" b="1">
                <a:solidFill>
                  <a:srgbClr val="172536"/>
                </a:solidFill>
              </a:rPr>
              <a:t>El rol no solo cambia los enlaces de la pantalla. Antes de ejecutar una acción, el servidor valida que el usuario tenga autorización.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3F2B1-D529-4F9B-A5C3-48C53CFF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CFFE8-4A42-4C03-90A0-7432741B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Puede hacer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55A75-FF4C-44D1-B126-82B3E152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No puede hacer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05960-AA00-419B-9729-24CF2549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78"/>
          </a:solidFill>
          <a:ln xmlns:a="http://schemas.openxmlformats.org/drawingml/2006/main" w="0">
            <a:solidFill>
              <a:srgbClr val="E9C7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AE6F2-B3BC-410A-9D32-73BF7328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536"/>
                </a:solidFill>
              </a:defRPr>
            </a:defPPr>
            <a:lvl1pPr>
              <a:defRPr sz="1500" b="1">
                <a:solidFill>
                  <a:srgbClr val="172536"/>
                </a:solidFill>
              </a:defRPr>
            </a:lvl1pPr>
            <a:lvl2pPr>
              <a:defRPr sz="1500" b="1">
                <a:solidFill>
                  <a:srgbClr val="172536"/>
                </a:solidFill>
              </a:defRPr>
            </a:lvl2pPr>
            <a:lvl3pPr>
              <a:defRPr sz="1500" b="1">
                <a:solidFill>
                  <a:srgbClr val="172536"/>
                </a:solidFill>
              </a:defRPr>
            </a:lvl3pPr>
            <a:lvl4pPr>
              <a:defRPr sz="1500" b="1">
                <a:solidFill>
                  <a:srgbClr val="172536"/>
                </a:solidFill>
              </a:defRPr>
            </a:lvl4pPr>
            <a:lvl5pPr>
              <a:defRPr sz="1500" b="1">
                <a:solidFill>
                  <a:srgbClr val="172536"/>
                </a:solidFill>
              </a:defRPr>
            </a:lvl5pPr>
            <a:lvl6pPr>
              <a:defRPr sz="1500" b="1">
                <a:solidFill>
                  <a:srgbClr val="172536"/>
                </a:solidFill>
              </a:defRPr>
            </a:lvl6pPr>
            <a:lvl7pPr>
              <a:defRPr sz="1500" b="1">
                <a:solidFill>
                  <a:srgbClr val="172536"/>
                </a:solidFill>
              </a:defRPr>
            </a:lvl7pPr>
            <a:lvl8pPr>
              <a:defRPr sz="1500" b="1">
                <a:solidFill>
                  <a:srgbClr val="172536"/>
                </a:solidFill>
              </a:defRPr>
            </a:lvl8pPr>
            <a:lvl9pPr>
              <a:defRPr sz="1500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536"/>
                </a:solidFill>
              </a:defRPr>
            </a:pPr>
            <a:r>
              <a:rPr sz="1500" b="1">
                <a:solidFill>
                  <a:srgbClr val="172536"/>
                </a:solidFill>
              </a:rPr>
              <a:t>Administrador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E39F7-5DB3-44E3-A72E-079C9ED0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536"/>
                </a:solidFill>
              </a:defRPr>
            </a:defPPr>
            <a:lvl1pPr>
              <a:defRPr sz="1350" b="0">
                <a:solidFill>
                  <a:srgbClr val="172536"/>
                </a:solidFill>
              </a:defRPr>
            </a:lvl1pPr>
            <a:lvl2pPr>
              <a:defRPr sz="1350" b="0">
                <a:solidFill>
                  <a:srgbClr val="172536"/>
                </a:solidFill>
              </a:defRPr>
            </a:lvl2pPr>
            <a:lvl3pPr>
              <a:defRPr sz="1350" b="0">
                <a:solidFill>
                  <a:srgbClr val="172536"/>
                </a:solidFill>
              </a:defRPr>
            </a:lvl3pPr>
            <a:lvl4pPr>
              <a:defRPr sz="1350" b="0">
                <a:solidFill>
                  <a:srgbClr val="172536"/>
                </a:solidFill>
              </a:defRPr>
            </a:lvl4pPr>
            <a:lvl5pPr>
              <a:defRPr sz="1350" b="0">
                <a:solidFill>
                  <a:srgbClr val="172536"/>
                </a:solidFill>
              </a:defRPr>
            </a:lvl5pPr>
            <a:lvl6pPr>
              <a:defRPr sz="1350" b="0">
                <a:solidFill>
                  <a:srgbClr val="172536"/>
                </a:solidFill>
              </a:defRPr>
            </a:lvl6pPr>
            <a:lvl7pPr>
              <a:defRPr sz="1350" b="0">
                <a:solidFill>
                  <a:srgbClr val="172536"/>
                </a:solidFill>
              </a:defRPr>
            </a:lvl7pPr>
            <a:lvl8pPr>
              <a:defRPr sz="1350" b="0">
                <a:solidFill>
                  <a:srgbClr val="172536"/>
                </a:solidFill>
              </a:defRPr>
            </a:lvl8pPr>
            <a:lvl9pPr>
              <a:defRPr sz="135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536"/>
                </a:solidFill>
              </a:defRPr>
            </a:pPr>
            <a:r>
              <a:rPr sz="1350" b="0">
                <a:solidFill>
                  <a:srgbClr val="172536"/>
                </a:solidFill>
              </a:rPr>
              <a:t>Gestionar catálogo y socios; registrar movimientos; consultar reportes y CSV.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115AB-ED55-4C96-946E-1BC495E4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670"/>
                </a:solidFill>
              </a:defRPr>
            </a:defPPr>
            <a:lvl1pPr>
              <a:defRPr sz="1350" b="0">
                <a:solidFill>
                  <a:srgbClr val="5C6670"/>
                </a:solidFill>
              </a:defRPr>
            </a:lvl1pPr>
            <a:lvl2pPr>
              <a:defRPr sz="1350" b="0">
                <a:solidFill>
                  <a:srgbClr val="5C6670"/>
                </a:solidFill>
              </a:defRPr>
            </a:lvl2pPr>
            <a:lvl3pPr>
              <a:defRPr sz="1350" b="0">
                <a:solidFill>
                  <a:srgbClr val="5C6670"/>
                </a:solidFill>
              </a:defRPr>
            </a:lvl3pPr>
            <a:lvl4pPr>
              <a:defRPr sz="1350" b="0">
                <a:solidFill>
                  <a:srgbClr val="5C6670"/>
                </a:solidFill>
              </a:defRPr>
            </a:lvl4pPr>
            <a:lvl5pPr>
              <a:defRPr sz="1350" b="0">
                <a:solidFill>
                  <a:srgbClr val="5C6670"/>
                </a:solidFill>
              </a:defRPr>
            </a:lvl5pPr>
            <a:lvl6pPr>
              <a:defRPr sz="1350" b="0">
                <a:solidFill>
                  <a:srgbClr val="5C6670"/>
                </a:solidFill>
              </a:defRPr>
            </a:lvl6pPr>
            <a:lvl7pPr>
              <a:defRPr sz="1350" b="0">
                <a:solidFill>
                  <a:srgbClr val="5C6670"/>
                </a:solidFill>
              </a:defRPr>
            </a:lvl7pPr>
            <a:lvl8pPr>
              <a:defRPr sz="1350" b="0">
                <a:solidFill>
                  <a:srgbClr val="5C6670"/>
                </a:solidFill>
              </a:defRPr>
            </a:lvl8pPr>
            <a:lvl9pPr>
              <a:defRPr sz="1350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670"/>
                </a:solidFill>
              </a:defRPr>
            </a:pPr>
            <a:r>
              <a:rPr sz="1350" b="0">
                <a:solidFill>
                  <a:srgbClr val="5C6670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644A5-B579-4D23-9A09-CA9D9D16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536"/>
                </a:solidFill>
              </a:defRPr>
            </a:defPPr>
            <a:lvl1pPr>
              <a:defRPr sz="1500" b="1">
                <a:solidFill>
                  <a:srgbClr val="172536"/>
                </a:solidFill>
              </a:defRPr>
            </a:lvl1pPr>
            <a:lvl2pPr>
              <a:defRPr sz="1500" b="1">
                <a:solidFill>
                  <a:srgbClr val="172536"/>
                </a:solidFill>
              </a:defRPr>
            </a:lvl2pPr>
            <a:lvl3pPr>
              <a:defRPr sz="1500" b="1">
                <a:solidFill>
                  <a:srgbClr val="172536"/>
                </a:solidFill>
              </a:defRPr>
            </a:lvl3pPr>
            <a:lvl4pPr>
              <a:defRPr sz="1500" b="1">
                <a:solidFill>
                  <a:srgbClr val="172536"/>
                </a:solidFill>
              </a:defRPr>
            </a:lvl4pPr>
            <a:lvl5pPr>
              <a:defRPr sz="1500" b="1">
                <a:solidFill>
                  <a:srgbClr val="172536"/>
                </a:solidFill>
              </a:defRPr>
            </a:lvl5pPr>
            <a:lvl6pPr>
              <a:defRPr sz="1500" b="1">
                <a:solidFill>
                  <a:srgbClr val="172536"/>
                </a:solidFill>
              </a:defRPr>
            </a:lvl6pPr>
            <a:lvl7pPr>
              <a:defRPr sz="1500" b="1">
                <a:solidFill>
                  <a:srgbClr val="172536"/>
                </a:solidFill>
              </a:defRPr>
            </a:lvl7pPr>
            <a:lvl8pPr>
              <a:defRPr sz="1500" b="1">
                <a:solidFill>
                  <a:srgbClr val="172536"/>
                </a:solidFill>
              </a:defRPr>
            </a:lvl8pPr>
            <a:lvl9pPr>
              <a:defRPr sz="1500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536"/>
                </a:solidFill>
              </a:defRPr>
            </a:pPr>
            <a:r>
              <a:rPr sz="1500" b="1">
                <a:solidFill>
                  <a:srgbClr val="172536"/>
                </a:solidFill>
              </a:rPr>
              <a:t>Operador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BC829-A96D-4108-8DB8-23AB869E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338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536"/>
                </a:solidFill>
              </a:defRPr>
            </a:defPPr>
            <a:lvl1pPr>
              <a:defRPr sz="1350" b="0">
                <a:solidFill>
                  <a:srgbClr val="172536"/>
                </a:solidFill>
              </a:defRPr>
            </a:lvl1pPr>
            <a:lvl2pPr>
              <a:defRPr sz="1350" b="0">
                <a:solidFill>
                  <a:srgbClr val="172536"/>
                </a:solidFill>
              </a:defRPr>
            </a:lvl2pPr>
            <a:lvl3pPr>
              <a:defRPr sz="1350" b="0">
                <a:solidFill>
                  <a:srgbClr val="172536"/>
                </a:solidFill>
              </a:defRPr>
            </a:lvl3pPr>
            <a:lvl4pPr>
              <a:defRPr sz="1350" b="0">
                <a:solidFill>
                  <a:srgbClr val="172536"/>
                </a:solidFill>
              </a:defRPr>
            </a:lvl4pPr>
            <a:lvl5pPr>
              <a:defRPr sz="1350" b="0">
                <a:solidFill>
                  <a:srgbClr val="172536"/>
                </a:solidFill>
              </a:defRPr>
            </a:lvl5pPr>
            <a:lvl6pPr>
              <a:defRPr sz="1350" b="0">
                <a:solidFill>
                  <a:srgbClr val="172536"/>
                </a:solidFill>
              </a:defRPr>
            </a:lvl6pPr>
            <a:lvl7pPr>
              <a:defRPr sz="1350" b="0">
                <a:solidFill>
                  <a:srgbClr val="172536"/>
                </a:solidFill>
              </a:defRPr>
            </a:lvl7pPr>
            <a:lvl8pPr>
              <a:defRPr sz="1350" b="0">
                <a:solidFill>
                  <a:srgbClr val="172536"/>
                </a:solidFill>
              </a:defRPr>
            </a:lvl8pPr>
            <a:lvl9pPr>
              <a:defRPr sz="135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536"/>
                </a:solidFill>
              </a:defRPr>
            </a:pPr>
            <a:r>
              <a:rPr sz="1350" b="0">
                <a:solidFill>
                  <a:srgbClr val="172536"/>
                </a:solidFill>
              </a:rPr>
              <a:t>Registrar ventas y acopios; editar productos.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CF2F1-F17F-473C-B938-21881F3D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338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1F1F"/>
                </a:solidFill>
              </a:defRPr>
            </a:defPPr>
            <a:lvl1pPr>
              <a:defRPr sz="1350" b="0">
                <a:solidFill>
                  <a:srgbClr val="8B1F1F"/>
                </a:solidFill>
              </a:defRPr>
            </a:lvl1pPr>
            <a:lvl2pPr>
              <a:defRPr sz="1350" b="0">
                <a:solidFill>
                  <a:srgbClr val="8B1F1F"/>
                </a:solidFill>
              </a:defRPr>
            </a:lvl2pPr>
            <a:lvl3pPr>
              <a:defRPr sz="1350" b="0">
                <a:solidFill>
                  <a:srgbClr val="8B1F1F"/>
                </a:solidFill>
              </a:defRPr>
            </a:lvl3pPr>
            <a:lvl4pPr>
              <a:defRPr sz="1350" b="0">
                <a:solidFill>
                  <a:srgbClr val="8B1F1F"/>
                </a:solidFill>
              </a:defRPr>
            </a:lvl4pPr>
            <a:lvl5pPr>
              <a:defRPr sz="1350" b="0">
                <a:solidFill>
                  <a:srgbClr val="8B1F1F"/>
                </a:solidFill>
              </a:defRPr>
            </a:lvl5pPr>
            <a:lvl6pPr>
              <a:defRPr sz="1350" b="0">
                <a:solidFill>
                  <a:srgbClr val="8B1F1F"/>
                </a:solidFill>
              </a:defRPr>
            </a:lvl6pPr>
            <a:lvl7pPr>
              <a:defRPr sz="1350" b="0">
                <a:solidFill>
                  <a:srgbClr val="8B1F1F"/>
                </a:solidFill>
              </a:defRPr>
            </a:lvl7pPr>
            <a:lvl8pPr>
              <a:defRPr sz="1350" b="0">
                <a:solidFill>
                  <a:srgbClr val="8B1F1F"/>
                </a:solidFill>
              </a:defRPr>
            </a:lvl8pPr>
            <a:lvl9pPr>
              <a:defRPr sz="1350" b="0">
                <a:solidFill>
                  <a:srgbClr val="8B1F1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B1F1F"/>
                </a:solidFill>
              </a:defRPr>
            </a:pPr>
            <a:r>
              <a:rPr sz="1350" b="0">
                <a:solidFill>
                  <a:srgbClr val="8B1F1F"/>
                </a:solidFill>
              </a:rPr>
              <a:t>Eliminar productos; ver reportes o descargar CSV.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3DBA0-4D95-4C59-8E9C-635BED41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536"/>
                </a:solidFill>
              </a:defRPr>
            </a:defPPr>
            <a:lvl1pPr>
              <a:defRPr sz="1500" b="1">
                <a:solidFill>
                  <a:srgbClr val="172536"/>
                </a:solidFill>
              </a:defRPr>
            </a:lvl1pPr>
            <a:lvl2pPr>
              <a:defRPr sz="1500" b="1">
                <a:solidFill>
                  <a:srgbClr val="172536"/>
                </a:solidFill>
              </a:defRPr>
            </a:lvl2pPr>
            <a:lvl3pPr>
              <a:defRPr sz="1500" b="1">
                <a:solidFill>
                  <a:srgbClr val="172536"/>
                </a:solidFill>
              </a:defRPr>
            </a:lvl3pPr>
            <a:lvl4pPr>
              <a:defRPr sz="1500" b="1">
                <a:solidFill>
                  <a:srgbClr val="172536"/>
                </a:solidFill>
              </a:defRPr>
            </a:lvl4pPr>
            <a:lvl5pPr>
              <a:defRPr sz="1500" b="1">
                <a:solidFill>
                  <a:srgbClr val="172536"/>
                </a:solidFill>
              </a:defRPr>
            </a:lvl5pPr>
            <a:lvl6pPr>
              <a:defRPr sz="1500" b="1">
                <a:solidFill>
                  <a:srgbClr val="172536"/>
                </a:solidFill>
              </a:defRPr>
            </a:lvl6pPr>
            <a:lvl7pPr>
              <a:defRPr sz="1500" b="1">
                <a:solidFill>
                  <a:srgbClr val="172536"/>
                </a:solidFill>
              </a:defRPr>
            </a:lvl7pPr>
            <a:lvl8pPr>
              <a:defRPr sz="1500" b="1">
                <a:solidFill>
                  <a:srgbClr val="172536"/>
                </a:solidFill>
              </a:defRPr>
            </a:lvl8pPr>
            <a:lvl9pPr>
              <a:defRPr sz="1500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536"/>
                </a:solidFill>
              </a:defRPr>
            </a:pPr>
            <a:r>
              <a:rPr sz="1500" b="1">
                <a:solidFill>
                  <a:srgbClr val="172536"/>
                </a:solidFill>
              </a:rPr>
              <a:t>Socio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0D778-6E5E-4896-89DC-F60DCD39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43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536"/>
                </a:solidFill>
              </a:defRPr>
            </a:defPPr>
            <a:lvl1pPr>
              <a:defRPr sz="1350" b="0">
                <a:solidFill>
                  <a:srgbClr val="172536"/>
                </a:solidFill>
              </a:defRPr>
            </a:lvl1pPr>
            <a:lvl2pPr>
              <a:defRPr sz="1350" b="0">
                <a:solidFill>
                  <a:srgbClr val="172536"/>
                </a:solidFill>
              </a:defRPr>
            </a:lvl2pPr>
            <a:lvl3pPr>
              <a:defRPr sz="1350" b="0">
                <a:solidFill>
                  <a:srgbClr val="172536"/>
                </a:solidFill>
              </a:defRPr>
            </a:lvl3pPr>
            <a:lvl4pPr>
              <a:defRPr sz="1350" b="0">
                <a:solidFill>
                  <a:srgbClr val="172536"/>
                </a:solidFill>
              </a:defRPr>
            </a:lvl4pPr>
            <a:lvl5pPr>
              <a:defRPr sz="1350" b="0">
                <a:solidFill>
                  <a:srgbClr val="172536"/>
                </a:solidFill>
              </a:defRPr>
            </a:lvl5pPr>
            <a:lvl6pPr>
              <a:defRPr sz="1350" b="0">
                <a:solidFill>
                  <a:srgbClr val="172536"/>
                </a:solidFill>
              </a:defRPr>
            </a:lvl6pPr>
            <a:lvl7pPr>
              <a:defRPr sz="1350" b="0">
                <a:solidFill>
                  <a:srgbClr val="172536"/>
                </a:solidFill>
              </a:defRPr>
            </a:lvl7pPr>
            <a:lvl8pPr>
              <a:defRPr sz="1350" b="0">
                <a:solidFill>
                  <a:srgbClr val="172536"/>
                </a:solidFill>
              </a:defRPr>
            </a:lvl8pPr>
            <a:lvl9pPr>
              <a:defRPr sz="135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536"/>
                </a:solidFill>
              </a:defRPr>
            </a:pPr>
            <a:r>
              <a:rPr sz="1350" b="0">
                <a:solidFill>
                  <a:srgbClr val="172536"/>
                </a:solidFill>
              </a:rPr>
              <a:t>Consultar los productos vinculados a su propio socio.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247FB-C0CE-453C-BC99-C876DA8E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1F1F"/>
                </a:solidFill>
              </a:defRPr>
            </a:defPPr>
            <a:lvl1pPr>
              <a:defRPr sz="1350" b="0">
                <a:solidFill>
                  <a:srgbClr val="8B1F1F"/>
                </a:solidFill>
              </a:defRPr>
            </a:lvl1pPr>
            <a:lvl2pPr>
              <a:defRPr sz="1350" b="0">
                <a:solidFill>
                  <a:srgbClr val="8B1F1F"/>
                </a:solidFill>
              </a:defRPr>
            </a:lvl2pPr>
            <a:lvl3pPr>
              <a:defRPr sz="1350" b="0">
                <a:solidFill>
                  <a:srgbClr val="8B1F1F"/>
                </a:solidFill>
              </a:defRPr>
            </a:lvl3pPr>
            <a:lvl4pPr>
              <a:defRPr sz="1350" b="0">
                <a:solidFill>
                  <a:srgbClr val="8B1F1F"/>
                </a:solidFill>
              </a:defRPr>
            </a:lvl4pPr>
            <a:lvl5pPr>
              <a:defRPr sz="1350" b="0">
                <a:solidFill>
                  <a:srgbClr val="8B1F1F"/>
                </a:solidFill>
              </a:defRPr>
            </a:lvl5pPr>
            <a:lvl6pPr>
              <a:defRPr sz="1350" b="0">
                <a:solidFill>
                  <a:srgbClr val="8B1F1F"/>
                </a:solidFill>
              </a:defRPr>
            </a:lvl6pPr>
            <a:lvl7pPr>
              <a:defRPr sz="1350" b="0">
                <a:solidFill>
                  <a:srgbClr val="8B1F1F"/>
                </a:solidFill>
              </a:defRPr>
            </a:lvl7pPr>
            <a:lvl8pPr>
              <a:defRPr sz="1350" b="0">
                <a:solidFill>
                  <a:srgbClr val="8B1F1F"/>
                </a:solidFill>
              </a:defRPr>
            </a:lvl8pPr>
            <a:lvl9pPr>
              <a:defRPr sz="1350" b="0">
                <a:solidFill>
                  <a:srgbClr val="8B1F1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B1F1F"/>
                </a:solidFill>
              </a:defRPr>
            </a:pPr>
            <a:r>
              <a:rPr sz="1350" b="0">
                <a:solidFill>
                  <a:srgbClr val="8B1F1F"/>
                </a:solidFill>
              </a:rPr>
              <a:t>Registrar productos, consultar otros socios o administrar información.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96CC9-F04B-4DBD-82C1-EF07C05B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Pregunta de defensa: ¿por qué bloquear también en el servidor? Porque ocultar un botón no impide que alguien escriba la URL manualmente.</a:t>
            </a:r>
          </a:p>
        </p:txBody>
      </p:sp>
    </p:spTree>
    <p:extLst>
      <p:ext uri="{BB962C8B-B14F-4D97-AF65-F5344CB8AC3E}">
        <p14:creationId xmlns:p14="http://schemas.microsoft.com/office/powerpoint/2010/main" val="277049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FAF6C-1013-4CD9-9968-8962CE1B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7854D-8234-4336-BADA-046A819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02E69-2DD5-4219-90C2-796CEFB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35F59-BF60-4EC4-BFC1-9560F5E5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Pantalla de inicio de sesión: qué valida al presionar “Entrar”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D8E08-0326-4034-AEA2-197F774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5  |  Material de defensa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23ECD-2210-40D4-9D6C-64BB022D2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c2edf5d0942fb"/>
          <a:stretch xmlns:a="http://schemas.openxmlformats.org/drawingml/2006/main"/>
        </p:blipFill>
        <p:spPr>
          <a:xfrm xmlns:a="http://schemas.openxmlformats.org/drawingml/2006/main">
            <a:off x="647700" y="2158702"/>
            <a:ext cx="5715000" cy="2921596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297C3-F02C-4CE2-B635-7ED199CF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LECTURA DE LA PANTALLA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FC2C7-449F-4EA7-A29C-7839BC0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81225"/>
            <a:ext cx="4095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El correo identifica la cuenta; la contraseña se envía por POST, no por la URL.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E1A49-83AB-4A9F-96B3-72F479B6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09875"/>
            <a:ext cx="4095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El sistema obtiene el usuario y compara el valor con password_verify().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86B1B-EFDF-4B33-A41C-8EB09376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38525"/>
            <a:ext cx="4095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Si las credenciales son correctas, crea una sesión nueva y redirige al catálogo.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7B7F9-E785-4924-A1EE-61D9CFA8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67175"/>
            <a:ext cx="4095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El mensaje de error es igual para correo inexistente o contraseña incorrecta: así evita enumerar cuentas.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D30AC-E88C-438D-8D50-4E4C546D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67300"/>
            <a:ext cx="4048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84F00"/>
                </a:solidFill>
              </a:defRPr>
            </a:defPPr>
            <a:lvl1pPr>
              <a:defRPr sz="1275" b="1">
                <a:solidFill>
                  <a:srgbClr val="B84F00"/>
                </a:solidFill>
              </a:defRPr>
            </a:lvl1pPr>
            <a:lvl2pPr>
              <a:defRPr sz="1275" b="1">
                <a:solidFill>
                  <a:srgbClr val="B84F00"/>
                </a:solidFill>
              </a:defRPr>
            </a:lvl2pPr>
            <a:lvl3pPr>
              <a:defRPr sz="1275" b="1">
                <a:solidFill>
                  <a:srgbClr val="B84F00"/>
                </a:solidFill>
              </a:defRPr>
            </a:lvl3pPr>
            <a:lvl4pPr>
              <a:defRPr sz="1275" b="1">
                <a:solidFill>
                  <a:srgbClr val="B84F00"/>
                </a:solidFill>
              </a:defRPr>
            </a:lvl4pPr>
            <a:lvl5pPr>
              <a:defRPr sz="1275" b="1">
                <a:solidFill>
                  <a:srgbClr val="B84F00"/>
                </a:solidFill>
              </a:defRPr>
            </a:lvl5pPr>
            <a:lvl6pPr>
              <a:defRPr sz="1275" b="1">
                <a:solidFill>
                  <a:srgbClr val="B84F00"/>
                </a:solidFill>
              </a:defRPr>
            </a:lvl6pPr>
            <a:lvl7pPr>
              <a:defRPr sz="1275" b="1">
                <a:solidFill>
                  <a:srgbClr val="B84F00"/>
                </a:solidFill>
              </a:defRPr>
            </a:lvl7pPr>
            <a:lvl8pPr>
              <a:defRPr sz="1275" b="1">
                <a:solidFill>
                  <a:srgbClr val="B84F00"/>
                </a:solidFill>
              </a:defRPr>
            </a:lvl8pPr>
            <a:lvl9pPr>
              <a:defRPr sz="127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84F00"/>
                </a:solidFill>
              </a:defRPr>
            </a:pPr>
            <a:r>
              <a:rPr sz="1275" b="1">
                <a:solidFill>
                  <a:srgbClr val="B84F00"/>
                </a:solidFill>
              </a:rPr>
              <a:t>La misma pantalla sirve para todos los roles; lo que cambia después es el permiso asociado a la sesión.</a:t>
            </a:r>
          </a:p>
        </p:txBody>
      </p:sp>
    </p:spTree>
    <p:extLst>
      <p:ext uri="{BB962C8B-B14F-4D97-AF65-F5344CB8AC3E}">
        <p14:creationId xmlns:p14="http://schemas.microsoft.com/office/powerpoint/2010/main" val="6095676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503DD-B887-4DB7-B455-B4AE2B3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4950E-66F9-4BE6-B120-13909A8E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59CC4-BB0B-47AF-9504-3D30C680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0A02E-2537-4018-A93A-C26D01CE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Contraseñas y defensa ante intentos repetidos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71EFD-40B2-4DA7-B140-F37E5CAE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6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69460-0218-4E87-81A8-3EDC57AE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CÓMO SE GUARDA UNA CONTRASEÑA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B2845-1E83-4497-989E-63E481F3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5429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03406-8021-4456-8280-209C146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50863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172536"/>
                </a:solidFill>
              </a:defRPr>
            </a:defPPr>
            <a:lvl1pPr>
              <a:defRPr sz="1013" b="0">
                <a:solidFill>
                  <a:srgbClr val="172536"/>
                </a:solidFill>
              </a:defRPr>
            </a:lvl1pPr>
            <a:lvl2pPr>
              <a:defRPr sz="1013" b="0">
                <a:solidFill>
                  <a:srgbClr val="172536"/>
                </a:solidFill>
              </a:defRPr>
            </a:lvl2pPr>
            <a:lvl3pPr>
              <a:defRPr sz="1013" b="0">
                <a:solidFill>
                  <a:srgbClr val="172536"/>
                </a:solidFill>
              </a:defRPr>
            </a:lvl3pPr>
            <a:lvl4pPr>
              <a:defRPr sz="1013" b="0">
                <a:solidFill>
                  <a:srgbClr val="172536"/>
                </a:solidFill>
              </a:defRPr>
            </a:lvl4pPr>
            <a:lvl5pPr>
              <a:defRPr sz="1013" b="0">
                <a:solidFill>
                  <a:srgbClr val="172536"/>
                </a:solidFill>
              </a:defRPr>
            </a:lvl5pPr>
            <a:lvl6pPr>
              <a:defRPr sz="1013" b="0">
                <a:solidFill>
                  <a:srgbClr val="172536"/>
                </a:solidFill>
              </a:defRPr>
            </a:lvl6pPr>
            <a:lvl7pPr>
              <a:defRPr sz="1013" b="0">
                <a:solidFill>
                  <a:srgbClr val="172536"/>
                </a:solidFill>
              </a:defRPr>
            </a:lvl7pPr>
            <a:lvl8pPr>
              <a:defRPr sz="1013" b="0">
                <a:solidFill>
                  <a:srgbClr val="172536"/>
                </a:solidFill>
              </a:defRPr>
            </a:lvl8pPr>
            <a:lvl9pPr>
              <a:defRPr sz="10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172536"/>
                </a:solidFill>
              </a:defRPr>
            </a:pPr>
            <a:r>
              <a:rPr sz="1013" b="0">
                <a:solidFill>
                  <a:srgbClr val="172536"/>
                </a:solidFill>
              </a:rPr>
              <a:t>password_hash($clave, PASSWORD_BCRYPT, ['cost' =&gt; 12])</a:t>
            </a:r>
          </a:p>
          <a:p xmlns:a="http://schemas.openxmlformats.org/drawingml/2006/main">
            <a:pPr>
              <a:defRPr sz="1013" b="0">
                <a:solidFill>
                  <a:srgbClr val="172536"/>
                </a:solidFill>
              </a:defRPr>
            </a:pPr>
            <a:r>
              <a:rPr sz="1013" b="0">
                <a:solidFill>
                  <a:srgbClr val="172536"/>
                </a:solidFill>
              </a:rPr>
              <a:t>password_verify($claveIngresada, $hashGuardado)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13" b="0">
                <a:solidFill>
                  <a:srgbClr val="172536"/>
                </a:solidFill>
              </a:defRPr>
            </a:pPr>
            <a:r>
              <a:rPr sz="1013" b="0">
                <a:solidFill>
                  <a:srgbClr val="172536"/>
                </a:solidFill>
              </a:rPr>
              <a:t>// Si el algoritmo o costo cambia, se actualiza al ingresar.</a:t>
            </a:r>
          </a:p>
          <a:p xmlns:a="http://schemas.openxmlformats.org/drawingml/2006/main">
            <a:pPr>
              <a:defRPr sz="1013" b="0">
                <a:solidFill>
                  <a:srgbClr val="172536"/>
                </a:solidFill>
              </a:defRPr>
            </a:pPr>
            <a:r>
              <a:rPr sz="1013" b="0">
                <a:solidFill>
                  <a:srgbClr val="172536"/>
                </a:solidFill>
              </a:rPr>
              <a:t>password_needs_rehash($hashGuardado, PASSWORD_BCRYPT, ['cost' =&gt; 12])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404FD-ABA5-45AA-8249-E9B45907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542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7CA89-4B54-476C-886E-345ADA71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508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Por qué bcrypt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7DCBD-FDD7-4518-B871-1DE9B32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7725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No se almacena la contraseña original. Si se filtra la base, el atacante no recibe el texto de la clave; tendría que intentar romper cada hash.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757D1-023D-4888-9572-9F0D51EE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526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QUÉ OCURRE ANTE UN ATAQUE DE FUERZA BRUTA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34DDC-066F-4F21-8A90-8D515D9C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431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536"/>
                </a:solidFill>
              </a:defRPr>
            </a:defPPr>
            <a:lvl1pPr>
              <a:defRPr sz="1350" b="0">
                <a:solidFill>
                  <a:srgbClr val="172536"/>
                </a:solidFill>
              </a:defRPr>
            </a:lvl1pPr>
            <a:lvl2pPr>
              <a:defRPr sz="1350" b="0">
                <a:solidFill>
                  <a:srgbClr val="172536"/>
                </a:solidFill>
              </a:defRPr>
            </a:lvl2pPr>
            <a:lvl3pPr>
              <a:defRPr sz="1350" b="0">
                <a:solidFill>
                  <a:srgbClr val="172536"/>
                </a:solidFill>
              </a:defRPr>
            </a:lvl3pPr>
            <a:lvl4pPr>
              <a:defRPr sz="1350" b="0">
                <a:solidFill>
                  <a:srgbClr val="172536"/>
                </a:solidFill>
              </a:defRPr>
            </a:lvl4pPr>
            <a:lvl5pPr>
              <a:defRPr sz="1350" b="0">
                <a:solidFill>
                  <a:srgbClr val="172536"/>
                </a:solidFill>
              </a:defRPr>
            </a:lvl5pPr>
            <a:lvl6pPr>
              <a:defRPr sz="1350" b="0">
                <a:solidFill>
                  <a:srgbClr val="172536"/>
                </a:solidFill>
              </a:defRPr>
            </a:lvl6pPr>
            <a:lvl7pPr>
              <a:defRPr sz="1350" b="0">
                <a:solidFill>
                  <a:srgbClr val="172536"/>
                </a:solidFill>
              </a:defRPr>
            </a:lvl7pPr>
            <a:lvl8pPr>
              <a:defRPr sz="1350" b="0">
                <a:solidFill>
                  <a:srgbClr val="172536"/>
                </a:solidFill>
              </a:defRPr>
            </a:lvl8pPr>
            <a:lvl9pPr>
              <a:defRPr sz="135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536"/>
                </a:solidFill>
              </a:defRPr>
            </a:pPr>
            <a:r>
              <a:rPr sz="1350" b="0">
                <a:solidFill>
                  <a:srgbClr val="172536"/>
                </a:solidFill>
              </a:rPr>
              <a:t>•  Cada error aumenta el contador de intentos fallidos.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25C78-4175-456E-8ED3-053FE0E0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536"/>
                </a:solidFill>
              </a:defRPr>
            </a:defPPr>
            <a:lvl1pPr>
              <a:defRPr sz="1350" b="0">
                <a:solidFill>
                  <a:srgbClr val="172536"/>
                </a:solidFill>
              </a:defRPr>
            </a:lvl1pPr>
            <a:lvl2pPr>
              <a:defRPr sz="1350" b="0">
                <a:solidFill>
                  <a:srgbClr val="172536"/>
                </a:solidFill>
              </a:defRPr>
            </a:lvl2pPr>
            <a:lvl3pPr>
              <a:defRPr sz="1350" b="0">
                <a:solidFill>
                  <a:srgbClr val="172536"/>
                </a:solidFill>
              </a:defRPr>
            </a:lvl3pPr>
            <a:lvl4pPr>
              <a:defRPr sz="1350" b="0">
                <a:solidFill>
                  <a:srgbClr val="172536"/>
                </a:solidFill>
              </a:defRPr>
            </a:lvl4pPr>
            <a:lvl5pPr>
              <a:defRPr sz="1350" b="0">
                <a:solidFill>
                  <a:srgbClr val="172536"/>
                </a:solidFill>
              </a:defRPr>
            </a:lvl5pPr>
            <a:lvl6pPr>
              <a:defRPr sz="1350" b="0">
                <a:solidFill>
                  <a:srgbClr val="172536"/>
                </a:solidFill>
              </a:defRPr>
            </a:lvl6pPr>
            <a:lvl7pPr>
              <a:defRPr sz="1350" b="0">
                <a:solidFill>
                  <a:srgbClr val="172536"/>
                </a:solidFill>
              </a:defRPr>
            </a:lvl7pPr>
            <a:lvl8pPr>
              <a:defRPr sz="1350" b="0">
                <a:solidFill>
                  <a:srgbClr val="172536"/>
                </a:solidFill>
              </a:defRPr>
            </a:lvl8pPr>
            <a:lvl9pPr>
              <a:defRPr sz="135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536"/>
                </a:solidFill>
              </a:defRPr>
            </a:pPr>
            <a:r>
              <a:rPr sz="1350" b="0">
                <a:solidFill>
                  <a:srgbClr val="172536"/>
                </a:solidFill>
              </a:rPr>
              <a:t>•  Al quinto error la cuenta queda temporalmente bloqueada.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4D1E8-8D29-4C7E-870A-166BBBB0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536"/>
                </a:solidFill>
              </a:defRPr>
            </a:defPPr>
            <a:lvl1pPr>
              <a:defRPr sz="1350" b="0">
                <a:solidFill>
                  <a:srgbClr val="172536"/>
                </a:solidFill>
              </a:defRPr>
            </a:lvl1pPr>
            <a:lvl2pPr>
              <a:defRPr sz="1350" b="0">
                <a:solidFill>
                  <a:srgbClr val="172536"/>
                </a:solidFill>
              </a:defRPr>
            </a:lvl2pPr>
            <a:lvl3pPr>
              <a:defRPr sz="1350" b="0">
                <a:solidFill>
                  <a:srgbClr val="172536"/>
                </a:solidFill>
              </a:defRPr>
            </a:lvl3pPr>
            <a:lvl4pPr>
              <a:defRPr sz="1350" b="0">
                <a:solidFill>
                  <a:srgbClr val="172536"/>
                </a:solidFill>
              </a:defRPr>
            </a:lvl4pPr>
            <a:lvl5pPr>
              <a:defRPr sz="1350" b="0">
                <a:solidFill>
                  <a:srgbClr val="172536"/>
                </a:solidFill>
              </a:defRPr>
            </a:lvl5pPr>
            <a:lvl6pPr>
              <a:defRPr sz="1350" b="0">
                <a:solidFill>
                  <a:srgbClr val="172536"/>
                </a:solidFill>
              </a:defRPr>
            </a:lvl6pPr>
            <a:lvl7pPr>
              <a:defRPr sz="1350" b="0">
                <a:solidFill>
                  <a:srgbClr val="172536"/>
                </a:solidFill>
              </a:defRPr>
            </a:lvl7pPr>
            <a:lvl8pPr>
              <a:defRPr sz="1350" b="0">
                <a:solidFill>
                  <a:srgbClr val="172536"/>
                </a:solidFill>
              </a:defRPr>
            </a:lvl8pPr>
            <a:lvl9pPr>
              <a:defRPr sz="135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536"/>
                </a:solidFill>
              </a:defRPr>
            </a:pPr>
            <a:r>
              <a:rPr sz="1350" b="0">
                <a:solidFill>
                  <a:srgbClr val="172536"/>
                </a:solidFill>
              </a:rPr>
              <a:t>•  Un sexto intento, incluso correcto, responde 429 y Retry-After.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122D8-2C79-4D46-B1AC-AA085C27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536"/>
                </a:solidFill>
              </a:defRPr>
            </a:defPPr>
            <a:lvl1pPr>
              <a:defRPr sz="1350" b="0">
                <a:solidFill>
                  <a:srgbClr val="172536"/>
                </a:solidFill>
              </a:defRPr>
            </a:lvl1pPr>
            <a:lvl2pPr>
              <a:defRPr sz="1350" b="0">
                <a:solidFill>
                  <a:srgbClr val="172536"/>
                </a:solidFill>
              </a:defRPr>
            </a:lvl2pPr>
            <a:lvl3pPr>
              <a:defRPr sz="1350" b="0">
                <a:solidFill>
                  <a:srgbClr val="172536"/>
                </a:solidFill>
              </a:defRPr>
            </a:lvl3pPr>
            <a:lvl4pPr>
              <a:defRPr sz="1350" b="0">
                <a:solidFill>
                  <a:srgbClr val="172536"/>
                </a:solidFill>
              </a:defRPr>
            </a:lvl4pPr>
            <a:lvl5pPr>
              <a:defRPr sz="1350" b="0">
                <a:solidFill>
                  <a:srgbClr val="172536"/>
                </a:solidFill>
              </a:defRPr>
            </a:lvl5pPr>
            <a:lvl6pPr>
              <a:defRPr sz="1350" b="0">
                <a:solidFill>
                  <a:srgbClr val="172536"/>
                </a:solidFill>
              </a:defRPr>
            </a:lvl6pPr>
            <a:lvl7pPr>
              <a:defRPr sz="1350" b="0">
                <a:solidFill>
                  <a:srgbClr val="172536"/>
                </a:solidFill>
              </a:defRPr>
            </a:lvl7pPr>
            <a:lvl8pPr>
              <a:defRPr sz="1350" b="0">
                <a:solidFill>
                  <a:srgbClr val="172536"/>
                </a:solidFill>
              </a:defRPr>
            </a:lvl8pPr>
            <a:lvl9pPr>
              <a:defRPr sz="135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536"/>
                </a:solidFill>
              </a:defRPr>
            </a:pPr>
            <a:r>
              <a:rPr sz="1350" b="0">
                <a:solidFill>
                  <a:srgbClr val="172536"/>
                </a:solidFill>
              </a:rPr>
              <a:t>•  La respuesta de autenticación no revela si el correo existe.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59454-D371-4904-8265-D6291490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Respuesta breve para el docente: bcrypt protege el secreto; el límite de intentos reduce la posibilidad de adivinarlo.</a:t>
            </a:r>
          </a:p>
        </p:txBody>
      </p:sp>
    </p:spTree>
    <p:extLst>
      <p:ext uri="{BB962C8B-B14F-4D97-AF65-F5344CB8AC3E}">
        <p14:creationId xmlns:p14="http://schemas.microsoft.com/office/powerpoint/2010/main" val="1725357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0AD18-521F-4C4B-8B8D-9D591B2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A9FCD-5F27-4C1C-A411-FB48EDE4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3E286-91A5-42C9-9262-F40604BE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0D058-D940-479C-B9B9-1EC7DC86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Sesión, CSRF y cabeceras: controles que protegen la petición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E9C0E-C187-40ED-89AB-FC9C83E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7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6FAEF-E312-44BF-8372-590C226D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38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573C2-B43D-4B6D-985C-08A4DC8F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Sesión segura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3A640-C6A7-4630-9EF1-F829BF32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95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La cookie de sesión tiene nombre propio, HttpOnly y SameSite=Lax. Al entrar se ejecuta session_regenerate_id(), reduciendo el riesgo de fijación de sesión.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4AD41-4615-41F3-902F-103005F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73515-8880-4A3D-BE10-1808EA7C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145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Token CSRF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4DBDD-F4CC-4AD3-ABD5-72C230F2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895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Todo POST sensible exige un token creado en la sesión. Si falta o no coincide, el servidor responde 403: se evita que otra página “haga clic” en nombre del usuario.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BA9AE-EDE4-411C-9C67-EDEC213F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238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B3E76-59EE-4EA9-8287-E166E6D6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Cabeceras HTTP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B163F-3308-477E-8098-5366800B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895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CSP limita los recursos que carga la página; nosniff evita inferencias de tipo; Referrer-Policy limita datos enviados como referencia y se oculta X-Powered-By.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6498E-4BC4-4BB1-8A5C-B8B93EAE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914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CAC80-30FD-4571-A5BD-EE11D487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8801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536"/>
                </a:solidFill>
              </a:defRPr>
            </a:defPPr>
            <a:lvl1pPr>
              <a:defRPr sz="1275" b="0">
                <a:solidFill>
                  <a:srgbClr val="172536"/>
                </a:solidFill>
              </a:defRPr>
            </a:lvl1pPr>
            <a:lvl2pPr>
              <a:defRPr sz="1275" b="0">
                <a:solidFill>
                  <a:srgbClr val="172536"/>
                </a:solidFill>
              </a:defRPr>
            </a:lvl2pPr>
            <a:lvl3pPr>
              <a:defRPr sz="1275" b="0">
                <a:solidFill>
                  <a:srgbClr val="172536"/>
                </a:solidFill>
              </a:defRPr>
            </a:lvl3pPr>
            <a:lvl4pPr>
              <a:defRPr sz="1275" b="0">
                <a:solidFill>
                  <a:srgbClr val="172536"/>
                </a:solidFill>
              </a:defRPr>
            </a:lvl4pPr>
            <a:lvl5pPr>
              <a:defRPr sz="1275" b="0">
                <a:solidFill>
                  <a:srgbClr val="172536"/>
                </a:solidFill>
              </a:defRPr>
            </a:lvl5pPr>
            <a:lvl6pPr>
              <a:defRPr sz="1275" b="0">
                <a:solidFill>
                  <a:srgbClr val="172536"/>
                </a:solidFill>
              </a:defRPr>
            </a:lvl6pPr>
            <a:lvl7pPr>
              <a:defRPr sz="1275" b="0">
                <a:solidFill>
                  <a:srgbClr val="172536"/>
                </a:solidFill>
              </a:defRPr>
            </a:lvl7pPr>
            <a:lvl8pPr>
              <a:defRPr sz="1275" b="0">
                <a:solidFill>
                  <a:srgbClr val="172536"/>
                </a:solidFill>
              </a:defRPr>
            </a:lvl8pPr>
            <a:lvl9pPr>
              <a:defRPr sz="1275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Antes de modificar datos:</a:t>
            </a:r>
          </a:p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1. ¿La sesión existe?</a:t>
            </a:r>
          </a:p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2. ¿El rol permite esta acción?</a:t>
            </a:r>
          </a:p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3. ¿La petición POST incluye token CSRF válido?</a:t>
            </a:r>
          </a:p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4. Recién entonces se llama al repositorio PDO.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05D4C-A9F2-4EAC-AA3E-315F2225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84F00"/>
                </a:solidFill>
              </a:defRPr>
            </a:defPPr>
            <a:lvl1pPr>
              <a:defRPr sz="1275" b="1">
                <a:solidFill>
                  <a:srgbClr val="B84F00"/>
                </a:solidFill>
              </a:defRPr>
            </a:lvl1pPr>
            <a:lvl2pPr>
              <a:defRPr sz="1275" b="1">
                <a:solidFill>
                  <a:srgbClr val="B84F00"/>
                </a:solidFill>
              </a:defRPr>
            </a:lvl2pPr>
            <a:lvl3pPr>
              <a:defRPr sz="1275" b="1">
                <a:solidFill>
                  <a:srgbClr val="B84F00"/>
                </a:solidFill>
              </a:defRPr>
            </a:lvl3pPr>
            <a:lvl4pPr>
              <a:defRPr sz="1275" b="1">
                <a:solidFill>
                  <a:srgbClr val="B84F00"/>
                </a:solidFill>
              </a:defRPr>
            </a:lvl4pPr>
            <a:lvl5pPr>
              <a:defRPr sz="1275" b="1">
                <a:solidFill>
                  <a:srgbClr val="B84F00"/>
                </a:solidFill>
              </a:defRPr>
            </a:lvl5pPr>
            <a:lvl6pPr>
              <a:defRPr sz="1275" b="1">
                <a:solidFill>
                  <a:srgbClr val="B84F00"/>
                </a:solidFill>
              </a:defRPr>
            </a:lvl6pPr>
            <a:lvl7pPr>
              <a:defRPr sz="1275" b="1">
                <a:solidFill>
                  <a:srgbClr val="B84F00"/>
                </a:solidFill>
              </a:defRPr>
            </a:lvl7pPr>
            <a:lvl8pPr>
              <a:defRPr sz="1275" b="1">
                <a:solidFill>
                  <a:srgbClr val="B84F00"/>
                </a:solidFill>
              </a:defRPr>
            </a:lvl8pPr>
            <a:lvl9pPr>
              <a:defRPr sz="127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84F00"/>
                </a:solidFill>
              </a:defRPr>
            </a:pPr>
            <a:r>
              <a:rPr sz="1275" b="1">
                <a:solidFill>
                  <a:srgbClr val="B84F00"/>
                </a:solidFill>
              </a:rPr>
              <a:t>No son controles alternativos: se complementan. Una sesión válida no reemplaza el token CSRF ni el permiso del rol.</a:t>
            </a:r>
          </a:p>
        </p:txBody>
      </p:sp>
    </p:spTree>
    <p:extLst>
      <p:ext uri="{BB962C8B-B14F-4D97-AF65-F5344CB8AC3E}">
        <p14:creationId xmlns:p14="http://schemas.microsoft.com/office/powerpoint/2010/main" val="578318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66A1E-AC77-41EA-8F5F-C0A02037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1EB54-A126-4469-92CA-B44D7D6F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645EC-3C3A-4222-9206-35130109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3493F-E450-44E4-9AE4-EE6FF32E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Pantalla de productos: la interfaz refleja el permiso del operador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E90B0-9A85-46E1-B85F-9C22042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8  |  Material de defensa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20B6D-92C4-4576-A4EC-B6C64DAFA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9e8c90bf943df"/>
          <a:stretch xmlns:a="http://schemas.openxmlformats.org/drawingml/2006/main"/>
        </p:blipFill>
        <p:spPr>
          <a:xfrm xmlns:a="http://schemas.openxmlformats.org/drawingml/2006/main">
            <a:off x="666750" y="1793235"/>
            <a:ext cx="6762750" cy="409068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0B18C-B614-4A8D-A274-92D4E278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478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QUÉ SE OBSERVA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8B39D-B0A2-4770-BC79-D5318B3A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El operador puede buscar, filtrar por categoría y ordenar el catálogo.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BE8D0-613B-4CD3-93DB-98743BC9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479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La paginación muestra 10 de 36 registros: evita cargar listas extensas de una vez.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6BCD1-682C-4ABE-B765-1DB36B05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05200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La acción Editar aparece porque el rol la permite.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6BFAE-18F6-4540-95A9-CA882BBE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6242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Eliminar no aparece; si intentara abrir esa ruta, el servidor devolvería 403.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A505B-80C0-494F-8923-ED873B3E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00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84F00"/>
                </a:solidFill>
              </a:defRPr>
            </a:defPPr>
            <a:lvl1pPr>
              <a:defRPr sz="1275" b="1">
                <a:solidFill>
                  <a:srgbClr val="B84F00"/>
                </a:solidFill>
              </a:defRPr>
            </a:lvl1pPr>
            <a:lvl2pPr>
              <a:defRPr sz="1275" b="1">
                <a:solidFill>
                  <a:srgbClr val="B84F00"/>
                </a:solidFill>
              </a:defRPr>
            </a:lvl2pPr>
            <a:lvl3pPr>
              <a:defRPr sz="1275" b="1">
                <a:solidFill>
                  <a:srgbClr val="B84F00"/>
                </a:solidFill>
              </a:defRPr>
            </a:lvl3pPr>
            <a:lvl4pPr>
              <a:defRPr sz="1275" b="1">
                <a:solidFill>
                  <a:srgbClr val="B84F00"/>
                </a:solidFill>
              </a:defRPr>
            </a:lvl4pPr>
            <a:lvl5pPr>
              <a:defRPr sz="1275" b="1">
                <a:solidFill>
                  <a:srgbClr val="B84F00"/>
                </a:solidFill>
              </a:defRPr>
            </a:lvl5pPr>
            <a:lvl6pPr>
              <a:defRPr sz="1275" b="1">
                <a:solidFill>
                  <a:srgbClr val="B84F00"/>
                </a:solidFill>
              </a:defRPr>
            </a:lvl6pPr>
            <a:lvl7pPr>
              <a:defRPr sz="1275" b="1">
                <a:solidFill>
                  <a:srgbClr val="B84F00"/>
                </a:solidFill>
              </a:defRPr>
            </a:lvl7pPr>
            <a:lvl8pPr>
              <a:defRPr sz="1275" b="1">
                <a:solidFill>
                  <a:srgbClr val="B84F00"/>
                </a:solidFill>
              </a:defRPr>
            </a:lvl8pPr>
            <a:lvl9pPr>
              <a:defRPr sz="127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84F00"/>
                </a:solidFill>
              </a:defRPr>
            </a:pPr>
            <a:r>
              <a:rPr sz="1275" b="1">
                <a:solidFill>
                  <a:srgbClr val="B84F00"/>
                </a:solidFill>
              </a:rPr>
              <a:t>La pantalla es evidencia visual; la autorización real está en el servidor, por eso el intento directo también se bloquea.</a:t>
            </a:r>
          </a:p>
        </p:txBody>
      </p:sp>
    </p:spTree>
    <p:extLst>
      <p:ext uri="{BB962C8B-B14F-4D97-AF65-F5344CB8AC3E}">
        <p14:creationId xmlns:p14="http://schemas.microsoft.com/office/powerpoint/2010/main" val="21091428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1A3C8-928D-4F2F-BFC6-21C4D54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75C35-CAF0-466F-A6A4-6D099F7A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88842-1E9A-482F-8322-F9E2C4C8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BA982-9CE1-4F9C-B1C3-F21924E8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Evidencia del Laboratorio 10: 15 controles superados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26490-A128-4431-B427-4712FC5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9  |  Material de defensa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4D9DF-DB91-4359-84D9-A3C1E4CDE7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45280c5654afc"/>
          <a:stretch xmlns:a="http://schemas.openxmlformats.org/drawingml/2006/main"/>
        </p:blipFill>
        <p:spPr>
          <a:xfrm xmlns:a="http://schemas.openxmlformats.org/drawingml/2006/main">
            <a:off x="666750" y="1966387"/>
            <a:ext cx="7000875" cy="3591976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E736A-F43D-46B7-BE27-0FEB6F87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QUÉ PRUEBA ESTE 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62A0D-1C30-4F1E-97CB-5E9D47F9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319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536"/>
                </a:solidFill>
              </a:defRPr>
            </a:defPPr>
            <a:lvl1pPr>
              <a:defRPr sz="1275" b="0">
                <a:solidFill>
                  <a:srgbClr val="172536"/>
                </a:solidFill>
              </a:defRPr>
            </a:lvl1pPr>
            <a:lvl2pPr>
              <a:defRPr sz="1275" b="0">
                <a:solidFill>
                  <a:srgbClr val="172536"/>
                </a:solidFill>
              </a:defRPr>
            </a:lvl2pPr>
            <a:lvl3pPr>
              <a:defRPr sz="1275" b="0">
                <a:solidFill>
                  <a:srgbClr val="172536"/>
                </a:solidFill>
              </a:defRPr>
            </a:lvl3pPr>
            <a:lvl4pPr>
              <a:defRPr sz="1275" b="0">
                <a:solidFill>
                  <a:srgbClr val="172536"/>
                </a:solidFill>
              </a:defRPr>
            </a:lvl4pPr>
            <a:lvl5pPr>
              <a:defRPr sz="1275" b="0">
                <a:solidFill>
                  <a:srgbClr val="172536"/>
                </a:solidFill>
              </a:defRPr>
            </a:lvl5pPr>
            <a:lvl6pPr>
              <a:defRPr sz="1275" b="0">
                <a:solidFill>
                  <a:srgbClr val="172536"/>
                </a:solidFill>
              </a:defRPr>
            </a:lvl6pPr>
            <a:lvl7pPr>
              <a:defRPr sz="1275" b="0">
                <a:solidFill>
                  <a:srgbClr val="172536"/>
                </a:solidFill>
              </a:defRPr>
            </a:lvl7pPr>
            <a:lvl8pPr>
              <a:defRPr sz="1275" b="0">
                <a:solidFill>
                  <a:srgbClr val="172536"/>
                </a:solidFill>
              </a:defRPr>
            </a:lvl8pPr>
            <a:lvl9pPr>
              <a:defRPr sz="1275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•  Hash bcrypt y actualización de costo al iniciar sesión.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CC72B-EC64-422A-B362-17EC3E7B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19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536"/>
                </a:solidFill>
              </a:defRPr>
            </a:defPPr>
            <a:lvl1pPr>
              <a:defRPr sz="1275" b="0">
                <a:solidFill>
                  <a:srgbClr val="172536"/>
                </a:solidFill>
              </a:defRPr>
            </a:lvl1pPr>
            <a:lvl2pPr>
              <a:defRPr sz="1275" b="0">
                <a:solidFill>
                  <a:srgbClr val="172536"/>
                </a:solidFill>
              </a:defRPr>
            </a:lvl2pPr>
            <a:lvl3pPr>
              <a:defRPr sz="1275" b="0">
                <a:solidFill>
                  <a:srgbClr val="172536"/>
                </a:solidFill>
              </a:defRPr>
            </a:lvl3pPr>
            <a:lvl4pPr>
              <a:defRPr sz="1275" b="0">
                <a:solidFill>
                  <a:srgbClr val="172536"/>
                </a:solidFill>
              </a:defRPr>
            </a:lvl4pPr>
            <a:lvl5pPr>
              <a:defRPr sz="1275" b="0">
                <a:solidFill>
                  <a:srgbClr val="172536"/>
                </a:solidFill>
              </a:defRPr>
            </a:lvl5pPr>
            <a:lvl6pPr>
              <a:defRPr sz="1275" b="0">
                <a:solidFill>
                  <a:srgbClr val="172536"/>
                </a:solidFill>
              </a:defRPr>
            </a:lvl6pPr>
            <a:lvl7pPr>
              <a:defRPr sz="1275" b="0">
                <a:solidFill>
                  <a:srgbClr val="172536"/>
                </a:solidFill>
              </a:defRPr>
            </a:lvl7pPr>
            <a:lvl8pPr>
              <a:defRPr sz="1275" b="0">
                <a:solidFill>
                  <a:srgbClr val="172536"/>
                </a:solidFill>
              </a:defRPr>
            </a:lvl8pPr>
            <a:lvl9pPr>
              <a:defRPr sz="1275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•  Restricciones de permisos para administrador, operador y socio.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CF410-8900-49A0-BE76-AE2E1198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319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536"/>
                </a:solidFill>
              </a:defRPr>
            </a:defPPr>
            <a:lvl1pPr>
              <a:defRPr sz="1275" b="0">
                <a:solidFill>
                  <a:srgbClr val="172536"/>
                </a:solidFill>
              </a:defRPr>
            </a:lvl1pPr>
            <a:lvl2pPr>
              <a:defRPr sz="1275" b="0">
                <a:solidFill>
                  <a:srgbClr val="172536"/>
                </a:solidFill>
              </a:defRPr>
            </a:lvl2pPr>
            <a:lvl3pPr>
              <a:defRPr sz="1275" b="0">
                <a:solidFill>
                  <a:srgbClr val="172536"/>
                </a:solidFill>
              </a:defRPr>
            </a:lvl3pPr>
            <a:lvl4pPr>
              <a:defRPr sz="1275" b="0">
                <a:solidFill>
                  <a:srgbClr val="172536"/>
                </a:solidFill>
              </a:defRPr>
            </a:lvl4pPr>
            <a:lvl5pPr>
              <a:defRPr sz="1275" b="0">
                <a:solidFill>
                  <a:srgbClr val="172536"/>
                </a:solidFill>
              </a:defRPr>
            </a:lvl5pPr>
            <a:lvl6pPr>
              <a:defRPr sz="1275" b="0">
                <a:solidFill>
                  <a:srgbClr val="172536"/>
                </a:solidFill>
              </a:defRPr>
            </a:lvl6pPr>
            <a:lvl7pPr>
              <a:defRPr sz="1275" b="0">
                <a:solidFill>
                  <a:srgbClr val="172536"/>
                </a:solidFill>
              </a:defRPr>
            </a:lvl7pPr>
            <a:lvl8pPr>
              <a:defRPr sz="1275" b="0">
                <a:solidFill>
                  <a:srgbClr val="172536"/>
                </a:solidFill>
              </a:defRPr>
            </a:lvl8pPr>
            <a:lvl9pPr>
              <a:defRPr sz="1275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•  Redirección segura, token CSRF y cabeceras HTTP.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8C0E9-3B26-4826-9177-095C7C7C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9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536"/>
                </a:solidFill>
              </a:defRPr>
            </a:defPPr>
            <a:lvl1pPr>
              <a:defRPr sz="1275" b="0">
                <a:solidFill>
                  <a:srgbClr val="172536"/>
                </a:solidFill>
              </a:defRPr>
            </a:lvl1pPr>
            <a:lvl2pPr>
              <a:defRPr sz="1275" b="0">
                <a:solidFill>
                  <a:srgbClr val="172536"/>
                </a:solidFill>
              </a:defRPr>
            </a:lvl2pPr>
            <a:lvl3pPr>
              <a:defRPr sz="1275" b="0">
                <a:solidFill>
                  <a:srgbClr val="172536"/>
                </a:solidFill>
              </a:defRPr>
            </a:lvl3pPr>
            <a:lvl4pPr>
              <a:defRPr sz="1275" b="0">
                <a:solidFill>
                  <a:srgbClr val="172536"/>
                </a:solidFill>
              </a:defRPr>
            </a:lvl4pPr>
            <a:lvl5pPr>
              <a:defRPr sz="1275" b="0">
                <a:solidFill>
                  <a:srgbClr val="172536"/>
                </a:solidFill>
              </a:defRPr>
            </a:lvl5pPr>
            <a:lvl6pPr>
              <a:defRPr sz="1275" b="0">
                <a:solidFill>
                  <a:srgbClr val="172536"/>
                </a:solidFill>
              </a:defRPr>
            </a:lvl6pPr>
            <a:lvl7pPr>
              <a:defRPr sz="1275" b="0">
                <a:solidFill>
                  <a:srgbClr val="172536"/>
                </a:solidFill>
              </a:defRPr>
            </a:lvl7pPr>
            <a:lvl8pPr>
              <a:defRPr sz="1275" b="0">
                <a:solidFill>
                  <a:srgbClr val="172536"/>
                </a:solidFill>
              </a:defRPr>
            </a:lvl8pPr>
            <a:lvl9pPr>
              <a:defRPr sz="1275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536"/>
                </a:solidFill>
              </a:defRPr>
            </a:pPr>
            <a:r>
              <a:rPr sz="1275" b="0">
                <a:solidFill>
                  <a:srgbClr val="172536"/>
                </a:solidFill>
              </a:rPr>
              <a:t>•  Cierre de sesión, bloqueo tras fallos y respuestas HTTP correctas.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DE54A-8BD9-4CC8-9603-E273B61D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0175"/>
            <a:ext cx="304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1">
                <a:solidFill>
                  <a:srgbClr val="B84F00"/>
                </a:solidFill>
              </a:defRPr>
            </a:defPPr>
            <a:lvl1pPr>
              <a:defRPr sz="1238" b="1">
                <a:solidFill>
                  <a:srgbClr val="B84F00"/>
                </a:solidFill>
              </a:defRPr>
            </a:lvl1pPr>
            <a:lvl2pPr>
              <a:defRPr sz="1238" b="1">
                <a:solidFill>
                  <a:srgbClr val="B84F00"/>
                </a:solidFill>
              </a:defRPr>
            </a:lvl2pPr>
            <a:lvl3pPr>
              <a:defRPr sz="1238" b="1">
                <a:solidFill>
                  <a:srgbClr val="B84F00"/>
                </a:solidFill>
              </a:defRPr>
            </a:lvl3pPr>
            <a:lvl4pPr>
              <a:defRPr sz="1238" b="1">
                <a:solidFill>
                  <a:srgbClr val="B84F00"/>
                </a:solidFill>
              </a:defRPr>
            </a:lvl4pPr>
            <a:lvl5pPr>
              <a:defRPr sz="1238" b="1">
                <a:solidFill>
                  <a:srgbClr val="B84F00"/>
                </a:solidFill>
              </a:defRPr>
            </a:lvl5pPr>
            <a:lvl6pPr>
              <a:defRPr sz="1238" b="1">
                <a:solidFill>
                  <a:srgbClr val="B84F00"/>
                </a:solidFill>
              </a:defRPr>
            </a:lvl6pPr>
            <a:lvl7pPr>
              <a:defRPr sz="1238" b="1">
                <a:solidFill>
                  <a:srgbClr val="B84F00"/>
                </a:solidFill>
              </a:defRPr>
            </a:lvl7pPr>
            <a:lvl8pPr>
              <a:defRPr sz="1238" b="1">
                <a:solidFill>
                  <a:srgbClr val="B84F00"/>
                </a:solidFill>
              </a:defRPr>
            </a:lvl8pPr>
            <a:lvl9pPr>
              <a:defRPr sz="1238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238" b="1">
                <a:solidFill>
                  <a:srgbClr val="B84F00"/>
                </a:solidFill>
              </a:defRPr>
            </a:pPr>
            <a:r>
              <a:rPr sz="1238" b="1">
                <a:solidFill>
                  <a:srgbClr val="B84F00"/>
                </a:solidFill>
              </a:rPr>
              <a:t>Lectura correcta: “15 de 15” significa que el programa comprobó casos esperados y casos de rechazo, no solo que la página cargó.</a:t>
            </a:r>
          </a:p>
        </p:txBody>
      </p:sp>
    </p:spTree>
    <p:extLst>
      <p:ext uri="{BB962C8B-B14F-4D97-AF65-F5344CB8AC3E}">
        <p14:creationId xmlns:p14="http://schemas.microsoft.com/office/powerpoint/2010/main" val="2307081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1993B-20FB-4969-861B-4852228C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D53C1-D5CB-47AD-9813-F8A95DF3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B3CBF-0F9A-48EE-92C6-599112B9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95199-53EC-42A2-88F0-AC433096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Pantalla de movimientos: venta y acopio no son la misma operación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9F8DD-2C72-440D-AB4B-6D21845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10  |  Material de defensa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0D6EB-A0DE-471C-8862-3671996CB2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bf2e6698c4ddc"/>
          <a:stretch xmlns:a="http://schemas.openxmlformats.org/drawingml/2006/main"/>
        </p:blipFill>
        <p:spPr>
          <a:xfrm xmlns:a="http://schemas.openxmlformats.org/drawingml/2006/main">
            <a:off x="590550" y="2177707"/>
            <a:ext cx="6572250" cy="3359836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B1153-A23E-42AA-8792-374FDF0E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6B92B-3E92-4C41-A2B0-238FA7B2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14550"/>
            <a:ext cx="2847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Nueva venta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8A2A1-999B-4168-8E2A-7FDF6B3B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419350"/>
            <a:ext cx="28479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Se ingresa un cliente y hasta tres líneas de código/cantidad. Cada línea genera un detalle y disminuye el stock.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E5132-9897-4EE1-9294-CB25B50E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29050"/>
            <a:ext cx="3190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E20D4-6414-40BD-8E8E-2FEA7B03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990975"/>
            <a:ext cx="2847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Acopio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15860-235F-4749-A4A2-DB007E76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95775"/>
            <a:ext cx="28479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Un socio entrega unidades de un producto. Se registra cantidad, precio pagado y se incrementa el stock.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4131C-4F44-4F49-9136-AB83B6B5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1">
                <a:solidFill>
                  <a:srgbClr val="B84F00"/>
                </a:solidFill>
              </a:defRPr>
            </a:defPPr>
            <a:lvl1pPr>
              <a:defRPr sz="1238" b="1">
                <a:solidFill>
                  <a:srgbClr val="B84F00"/>
                </a:solidFill>
              </a:defRPr>
            </a:lvl1pPr>
            <a:lvl2pPr>
              <a:defRPr sz="1238" b="1">
                <a:solidFill>
                  <a:srgbClr val="B84F00"/>
                </a:solidFill>
              </a:defRPr>
            </a:lvl2pPr>
            <a:lvl3pPr>
              <a:defRPr sz="1238" b="1">
                <a:solidFill>
                  <a:srgbClr val="B84F00"/>
                </a:solidFill>
              </a:defRPr>
            </a:lvl3pPr>
            <a:lvl4pPr>
              <a:defRPr sz="1238" b="1">
                <a:solidFill>
                  <a:srgbClr val="B84F00"/>
                </a:solidFill>
              </a:defRPr>
            </a:lvl4pPr>
            <a:lvl5pPr>
              <a:defRPr sz="1238" b="1">
                <a:solidFill>
                  <a:srgbClr val="B84F00"/>
                </a:solidFill>
              </a:defRPr>
            </a:lvl5pPr>
            <a:lvl6pPr>
              <a:defRPr sz="1238" b="1">
                <a:solidFill>
                  <a:srgbClr val="B84F00"/>
                </a:solidFill>
              </a:defRPr>
            </a:lvl6pPr>
            <a:lvl7pPr>
              <a:defRPr sz="1238" b="1">
                <a:solidFill>
                  <a:srgbClr val="B84F00"/>
                </a:solidFill>
              </a:defRPr>
            </a:lvl7pPr>
            <a:lvl8pPr>
              <a:defRPr sz="1238" b="1">
                <a:solidFill>
                  <a:srgbClr val="B84F00"/>
                </a:solidFill>
              </a:defRPr>
            </a:lvl8pPr>
            <a:lvl9pPr>
              <a:defRPr sz="1238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238" b="1">
                <a:solidFill>
                  <a:srgbClr val="B84F00"/>
                </a:solidFill>
              </a:defRPr>
            </a:pPr>
            <a:r>
              <a:rPr sz="1238" b="1">
                <a:solidFill>
                  <a:srgbClr val="B84F00"/>
                </a:solidFill>
              </a:rPr>
              <a:t>La pantalla solo recolecta datos. La consistencia se garantiza en PHP y MySQL mediante validaciones y una transacción.</a:t>
            </a:r>
          </a:p>
        </p:txBody>
      </p:sp>
    </p:spTree>
    <p:extLst>
      <p:ext uri="{BB962C8B-B14F-4D97-AF65-F5344CB8AC3E}">
        <p14:creationId xmlns:p14="http://schemas.microsoft.com/office/powerpoint/2010/main" val="7494982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B3927-47DD-4ADA-86A1-1F151AF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141B6-00F1-4B02-9208-6916A0F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D7BDC-5A6E-45A4-9C81-D2968A3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784E8-536B-4BC8-81A8-D4E1B133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Registro de una venta: secuencia explicada paso a paso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62F41-3ECE-4F04-AC75-2BEF915A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11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DEBCD-ACB6-4873-9BEE-02833FF4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533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A402F-F6DD-4949-AC9A-4DC2A8B1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5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6AAE4-074C-49F2-8A0C-DDB694F8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764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4F00"/>
                </a:solidFill>
              </a:defRPr>
            </a:defPPr>
            <a:lvl1pPr>
              <a:defRPr sz="1425" b="1">
                <a:solidFill>
                  <a:srgbClr val="B84F00"/>
                </a:solidFill>
              </a:defRPr>
            </a:lvl1pPr>
            <a:lvl2pPr>
              <a:defRPr sz="1425" b="1">
                <a:solidFill>
                  <a:srgbClr val="B84F00"/>
                </a:solidFill>
              </a:defRPr>
            </a:lvl2pPr>
            <a:lvl3pPr>
              <a:defRPr sz="1425" b="1">
                <a:solidFill>
                  <a:srgbClr val="B84F00"/>
                </a:solidFill>
              </a:defRPr>
            </a:lvl3pPr>
            <a:lvl4pPr>
              <a:defRPr sz="1425" b="1">
                <a:solidFill>
                  <a:srgbClr val="B84F00"/>
                </a:solidFill>
              </a:defRPr>
            </a:lvl4pPr>
            <a:lvl5pPr>
              <a:defRPr sz="1425" b="1">
                <a:solidFill>
                  <a:srgbClr val="B84F00"/>
                </a:solidFill>
              </a:defRPr>
            </a:lvl5pPr>
            <a:lvl6pPr>
              <a:defRPr sz="1425" b="1">
                <a:solidFill>
                  <a:srgbClr val="B84F00"/>
                </a:solidFill>
              </a:defRPr>
            </a:lvl6pPr>
            <a:lvl7pPr>
              <a:defRPr sz="1425" b="1">
                <a:solidFill>
                  <a:srgbClr val="B84F00"/>
                </a:solidFill>
              </a:defRPr>
            </a:lvl7pPr>
            <a:lvl8pPr>
              <a:defRPr sz="1425" b="1">
                <a:solidFill>
                  <a:srgbClr val="B84F00"/>
                </a:solidFill>
              </a:defRPr>
            </a:lvl8pPr>
            <a:lvl9pPr>
              <a:defRPr sz="14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4F00"/>
                </a:solidFill>
              </a:defRPr>
            </a:pPr>
            <a:r>
              <a:rPr sz="1425" b="1">
                <a:solidFill>
                  <a:srgbClr val="B84F00"/>
                </a:solidFill>
              </a:rPr>
              <a:t>Validar entrada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5E8DB-7094-47AB-8CCD-B79A7759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7642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Cliente obligatorio; código existente; cantidad entera mayor que cero.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9752E-0744-4E10-9169-4F1A3255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533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6DD45-88A9-494F-B910-5C62991F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1AE10-74B7-40FF-9D59-27E2D935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14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4F00"/>
                </a:solidFill>
              </a:defRPr>
            </a:defPPr>
            <a:lvl1pPr>
              <a:defRPr sz="1425" b="1">
                <a:solidFill>
                  <a:srgbClr val="B84F00"/>
                </a:solidFill>
              </a:defRPr>
            </a:lvl1pPr>
            <a:lvl2pPr>
              <a:defRPr sz="1425" b="1">
                <a:solidFill>
                  <a:srgbClr val="B84F00"/>
                </a:solidFill>
              </a:defRPr>
            </a:lvl2pPr>
            <a:lvl3pPr>
              <a:defRPr sz="1425" b="1">
                <a:solidFill>
                  <a:srgbClr val="B84F00"/>
                </a:solidFill>
              </a:defRPr>
            </a:lvl3pPr>
            <a:lvl4pPr>
              <a:defRPr sz="1425" b="1">
                <a:solidFill>
                  <a:srgbClr val="B84F00"/>
                </a:solidFill>
              </a:defRPr>
            </a:lvl4pPr>
            <a:lvl5pPr>
              <a:defRPr sz="1425" b="1">
                <a:solidFill>
                  <a:srgbClr val="B84F00"/>
                </a:solidFill>
              </a:defRPr>
            </a:lvl5pPr>
            <a:lvl6pPr>
              <a:defRPr sz="1425" b="1">
                <a:solidFill>
                  <a:srgbClr val="B84F00"/>
                </a:solidFill>
              </a:defRPr>
            </a:lvl6pPr>
            <a:lvl7pPr>
              <a:defRPr sz="1425" b="1">
                <a:solidFill>
                  <a:srgbClr val="B84F00"/>
                </a:solidFill>
              </a:defRPr>
            </a:lvl7pPr>
            <a:lvl8pPr>
              <a:defRPr sz="1425" b="1">
                <a:solidFill>
                  <a:srgbClr val="B84F00"/>
                </a:solidFill>
              </a:defRPr>
            </a:lvl8pPr>
            <a:lvl9pPr>
              <a:defRPr sz="14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4F00"/>
                </a:solidFill>
              </a:defRPr>
            </a:pPr>
            <a:r>
              <a:rPr sz="1425" b="1">
                <a:solidFill>
                  <a:srgbClr val="B84F00"/>
                </a:solidFill>
              </a:rPr>
              <a:t>Abrir transacción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0B39D-4C7F-4586-AD42-1D594B22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beginTransaction() agrupa todos los cambios como una sola unidad.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E55E3-E015-4BA9-9E08-7A2F4F8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33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34F30-6FAB-4236-BB6F-D40DD72B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289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E9301-FFF1-4D23-9598-8758AC9B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527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4F00"/>
                </a:solidFill>
              </a:defRPr>
            </a:defPPr>
            <a:lvl1pPr>
              <a:defRPr sz="1425" b="1">
                <a:solidFill>
                  <a:srgbClr val="B84F00"/>
                </a:solidFill>
              </a:defRPr>
            </a:lvl1pPr>
            <a:lvl2pPr>
              <a:defRPr sz="1425" b="1">
                <a:solidFill>
                  <a:srgbClr val="B84F00"/>
                </a:solidFill>
              </a:defRPr>
            </a:lvl2pPr>
            <a:lvl3pPr>
              <a:defRPr sz="1425" b="1">
                <a:solidFill>
                  <a:srgbClr val="B84F00"/>
                </a:solidFill>
              </a:defRPr>
            </a:lvl3pPr>
            <a:lvl4pPr>
              <a:defRPr sz="1425" b="1">
                <a:solidFill>
                  <a:srgbClr val="B84F00"/>
                </a:solidFill>
              </a:defRPr>
            </a:lvl4pPr>
            <a:lvl5pPr>
              <a:defRPr sz="1425" b="1">
                <a:solidFill>
                  <a:srgbClr val="B84F00"/>
                </a:solidFill>
              </a:defRPr>
            </a:lvl5pPr>
            <a:lvl6pPr>
              <a:defRPr sz="1425" b="1">
                <a:solidFill>
                  <a:srgbClr val="B84F00"/>
                </a:solidFill>
              </a:defRPr>
            </a:lvl6pPr>
            <a:lvl7pPr>
              <a:defRPr sz="1425" b="1">
                <a:solidFill>
                  <a:srgbClr val="B84F00"/>
                </a:solidFill>
              </a:defRPr>
            </a:lvl7pPr>
            <a:lvl8pPr>
              <a:defRPr sz="1425" b="1">
                <a:solidFill>
                  <a:srgbClr val="B84F00"/>
                </a:solidFill>
              </a:defRPr>
            </a:lvl8pPr>
            <a:lvl9pPr>
              <a:defRPr sz="14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4F00"/>
                </a:solidFill>
              </a:defRPr>
            </a:pPr>
            <a:r>
              <a:rPr sz="1425" b="1">
                <a:solidFill>
                  <a:srgbClr val="B84F00"/>
                </a:solidFill>
              </a:rPr>
              <a:t>Obtener producto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DF580-F417-4E0F-985E-50DDF833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5277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Se consulta el id y el precio usando el código enviado.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C8ABB-DC7D-475C-B7D7-EEE5173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533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F3C9B-1360-44B6-9F83-62CDF208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67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B9EED-CB5D-4AF9-A326-0A2241A6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909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4F00"/>
                </a:solidFill>
              </a:defRPr>
            </a:defPPr>
            <a:lvl1pPr>
              <a:defRPr sz="1425" b="1">
                <a:solidFill>
                  <a:srgbClr val="B84F00"/>
                </a:solidFill>
              </a:defRPr>
            </a:lvl1pPr>
            <a:lvl2pPr>
              <a:defRPr sz="1425" b="1">
                <a:solidFill>
                  <a:srgbClr val="B84F00"/>
                </a:solidFill>
              </a:defRPr>
            </a:lvl2pPr>
            <a:lvl3pPr>
              <a:defRPr sz="1425" b="1">
                <a:solidFill>
                  <a:srgbClr val="B84F00"/>
                </a:solidFill>
              </a:defRPr>
            </a:lvl3pPr>
            <a:lvl4pPr>
              <a:defRPr sz="1425" b="1">
                <a:solidFill>
                  <a:srgbClr val="B84F00"/>
                </a:solidFill>
              </a:defRPr>
            </a:lvl4pPr>
            <a:lvl5pPr>
              <a:defRPr sz="1425" b="1">
                <a:solidFill>
                  <a:srgbClr val="B84F00"/>
                </a:solidFill>
              </a:defRPr>
            </a:lvl5pPr>
            <a:lvl6pPr>
              <a:defRPr sz="1425" b="1">
                <a:solidFill>
                  <a:srgbClr val="B84F00"/>
                </a:solidFill>
              </a:defRPr>
            </a:lvl6pPr>
            <a:lvl7pPr>
              <a:defRPr sz="1425" b="1">
                <a:solidFill>
                  <a:srgbClr val="B84F00"/>
                </a:solidFill>
              </a:defRPr>
            </a:lvl7pPr>
            <a:lvl8pPr>
              <a:defRPr sz="1425" b="1">
                <a:solidFill>
                  <a:srgbClr val="B84F00"/>
                </a:solidFill>
              </a:defRPr>
            </a:lvl8pPr>
            <a:lvl9pPr>
              <a:defRPr sz="14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4F00"/>
                </a:solidFill>
              </a:defRPr>
            </a:pPr>
            <a:r>
              <a:rPr sz="1425" b="1">
                <a:solidFill>
                  <a:srgbClr val="B84F00"/>
                </a:solidFill>
              </a:rPr>
              <a:t>Descontar stock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C7328-8DDF-4D1A-8A27-B5ABB55F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El UPDATE solo funciona si aún hay unidades suficientes.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FA4B3-B1DF-4DFB-AF8B-01D2721E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533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140F7-C1FC-49C0-A064-7923D5F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DB733-D63E-4CA1-ABAF-33F1F43D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291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4F00"/>
                </a:solidFill>
              </a:defRPr>
            </a:defPPr>
            <a:lvl1pPr>
              <a:defRPr sz="1425" b="1">
                <a:solidFill>
                  <a:srgbClr val="B84F00"/>
                </a:solidFill>
              </a:defRPr>
            </a:lvl1pPr>
            <a:lvl2pPr>
              <a:defRPr sz="1425" b="1">
                <a:solidFill>
                  <a:srgbClr val="B84F00"/>
                </a:solidFill>
              </a:defRPr>
            </a:lvl2pPr>
            <a:lvl3pPr>
              <a:defRPr sz="1425" b="1">
                <a:solidFill>
                  <a:srgbClr val="B84F00"/>
                </a:solidFill>
              </a:defRPr>
            </a:lvl3pPr>
            <a:lvl4pPr>
              <a:defRPr sz="1425" b="1">
                <a:solidFill>
                  <a:srgbClr val="B84F00"/>
                </a:solidFill>
              </a:defRPr>
            </a:lvl4pPr>
            <a:lvl5pPr>
              <a:defRPr sz="1425" b="1">
                <a:solidFill>
                  <a:srgbClr val="B84F00"/>
                </a:solidFill>
              </a:defRPr>
            </a:lvl5pPr>
            <a:lvl6pPr>
              <a:defRPr sz="1425" b="1">
                <a:solidFill>
                  <a:srgbClr val="B84F00"/>
                </a:solidFill>
              </a:defRPr>
            </a:lvl6pPr>
            <a:lvl7pPr>
              <a:defRPr sz="1425" b="1">
                <a:solidFill>
                  <a:srgbClr val="B84F00"/>
                </a:solidFill>
              </a:defRPr>
            </a:lvl7pPr>
            <a:lvl8pPr>
              <a:defRPr sz="1425" b="1">
                <a:solidFill>
                  <a:srgbClr val="B84F00"/>
                </a:solidFill>
              </a:defRPr>
            </a:lvl8pPr>
            <a:lvl9pPr>
              <a:defRPr sz="14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4F00"/>
                </a:solidFill>
              </a:defRPr>
            </a:pPr>
            <a:r>
              <a:rPr sz="1425" b="1">
                <a:solidFill>
                  <a:srgbClr val="B84F00"/>
                </a:solidFill>
              </a:rPr>
              <a:t>Guardar venta y detalle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FF42A-EDC4-464D-BD0C-B05AACA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Se registra cabecera, líneas vendidas y el total calculado.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14EF0-6611-4858-93E6-26029A16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533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1414E0-841C-4D65-BB21-29669AD8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4C0C4-22ED-4605-BFB9-262C9F35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4F00"/>
                </a:solidFill>
              </a:defRPr>
            </a:defPPr>
            <a:lvl1pPr>
              <a:defRPr sz="1425" b="1">
                <a:solidFill>
                  <a:srgbClr val="B84F00"/>
                </a:solidFill>
              </a:defRPr>
            </a:lvl1pPr>
            <a:lvl2pPr>
              <a:defRPr sz="1425" b="1">
                <a:solidFill>
                  <a:srgbClr val="B84F00"/>
                </a:solidFill>
              </a:defRPr>
            </a:lvl2pPr>
            <a:lvl3pPr>
              <a:defRPr sz="1425" b="1">
                <a:solidFill>
                  <a:srgbClr val="B84F00"/>
                </a:solidFill>
              </a:defRPr>
            </a:lvl3pPr>
            <a:lvl4pPr>
              <a:defRPr sz="1425" b="1">
                <a:solidFill>
                  <a:srgbClr val="B84F00"/>
                </a:solidFill>
              </a:defRPr>
            </a:lvl4pPr>
            <a:lvl5pPr>
              <a:defRPr sz="1425" b="1">
                <a:solidFill>
                  <a:srgbClr val="B84F00"/>
                </a:solidFill>
              </a:defRPr>
            </a:lvl5pPr>
            <a:lvl6pPr>
              <a:defRPr sz="1425" b="1">
                <a:solidFill>
                  <a:srgbClr val="B84F00"/>
                </a:solidFill>
              </a:defRPr>
            </a:lvl6pPr>
            <a:lvl7pPr>
              <a:defRPr sz="1425" b="1">
                <a:solidFill>
                  <a:srgbClr val="B84F00"/>
                </a:solidFill>
              </a:defRPr>
            </a:lvl7pPr>
            <a:lvl8pPr>
              <a:defRPr sz="1425" b="1">
                <a:solidFill>
                  <a:srgbClr val="B84F00"/>
                </a:solidFill>
              </a:defRPr>
            </a:lvl8pPr>
            <a:lvl9pPr>
              <a:defRPr sz="14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4F00"/>
                </a:solidFill>
              </a:defRPr>
            </a:pPr>
            <a:r>
              <a:rPr sz="1425" b="1">
                <a:solidFill>
                  <a:srgbClr val="B84F00"/>
                </a:solidFill>
              </a:rPr>
              <a:t>Confirmar o revertir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694F51-EAF7-4BD5-9C91-4352BFD9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67300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commit() publica todo; ante fallo, rollback() devuelve la base al estado previo.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9EE0B6-0231-4232-B42F-B51E8B95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817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Pregunta de defensa: ¿por qué no guardar línea por línea? Porque podría quedar una venta a medias si falla una línea posterior.</a:t>
            </a:r>
          </a:p>
        </p:txBody>
      </p:sp>
    </p:spTree>
    <p:extLst>
      <p:ext uri="{BB962C8B-B14F-4D97-AF65-F5344CB8AC3E}">
        <p14:creationId xmlns:p14="http://schemas.microsoft.com/office/powerpoint/2010/main" val="11442754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F39CE-9A0C-4924-A1F8-46338C1D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FF71F-8070-4167-978A-5653C705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F532B-2FC2-41E7-A307-8F33D3A9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ABBC4-3400-4EA4-965A-5CA0648C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Consulta crítica de venta: evitar stock negativo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0CDD9-E4A4-4C7A-958A-E761017A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12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B3851-0ACD-4E73-880E-9B3181DA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ACTUALIZACIÓN ATÓMICA DENTRO DE LA TRANSACCIÓN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2584F-7B34-4202-A0AA-7E3DED40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619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F1237-58F0-43C5-9EB5-6290D14C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5276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2536"/>
                </a:solidFill>
              </a:defRPr>
            </a:defPPr>
            <a:lvl1pPr>
              <a:defRPr sz="1125" b="0">
                <a:solidFill>
                  <a:srgbClr val="172536"/>
                </a:solidFill>
              </a:defRPr>
            </a:lvl1pPr>
            <a:lvl2pPr>
              <a:defRPr sz="1125" b="0">
                <a:solidFill>
                  <a:srgbClr val="172536"/>
                </a:solidFill>
              </a:defRPr>
            </a:lvl2pPr>
            <a:lvl3pPr>
              <a:defRPr sz="1125" b="0">
                <a:solidFill>
                  <a:srgbClr val="172536"/>
                </a:solidFill>
              </a:defRPr>
            </a:lvl3pPr>
            <a:lvl4pPr>
              <a:defRPr sz="1125" b="0">
                <a:solidFill>
                  <a:srgbClr val="172536"/>
                </a:solidFill>
              </a:defRPr>
            </a:lvl4pPr>
            <a:lvl5pPr>
              <a:defRPr sz="1125" b="0">
                <a:solidFill>
                  <a:srgbClr val="172536"/>
                </a:solidFill>
              </a:defRPr>
            </a:lvl5pPr>
            <a:lvl6pPr>
              <a:defRPr sz="1125" b="0">
                <a:solidFill>
                  <a:srgbClr val="172536"/>
                </a:solidFill>
              </a:defRPr>
            </a:lvl6pPr>
            <a:lvl7pPr>
              <a:defRPr sz="1125" b="0">
                <a:solidFill>
                  <a:srgbClr val="172536"/>
                </a:solidFill>
              </a:defRPr>
            </a:lvl7pPr>
            <a:lvl8pPr>
              <a:defRPr sz="1125" b="0">
                <a:solidFill>
                  <a:srgbClr val="172536"/>
                </a:solidFill>
              </a:defRPr>
            </a:lvl8pPr>
            <a:lvl9pPr>
              <a:defRPr sz="1125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72536"/>
                </a:solidFill>
              </a:defRPr>
            </a:pPr>
            <a:r>
              <a:rPr sz="1125" b="0">
                <a:solidFill>
                  <a:srgbClr val="172536"/>
                </a:solidFill>
              </a:rPr>
              <a:t>UPDATE productos</a:t>
            </a:r>
          </a:p>
          <a:p xmlns:a="http://schemas.openxmlformats.org/drawingml/2006/main">
            <a:pPr>
              <a:defRPr sz="1125" b="0">
                <a:solidFill>
                  <a:srgbClr val="172536"/>
                </a:solidFill>
              </a:defRPr>
            </a:pPr>
            <a:r>
              <a:rPr sz="1125" b="0">
                <a:solidFill>
                  <a:srgbClr val="172536"/>
                </a:solidFill>
              </a:rPr>
              <a:t>SET stock = stock - :cantidad</a:t>
            </a:r>
          </a:p>
          <a:p xmlns:a="http://schemas.openxmlformats.org/drawingml/2006/main">
            <a:pPr>
              <a:defRPr sz="1125" b="0">
                <a:solidFill>
                  <a:srgbClr val="172536"/>
                </a:solidFill>
              </a:defRPr>
            </a:pPr>
            <a:r>
              <a:rPr sz="1125" b="0">
                <a:solidFill>
                  <a:srgbClr val="172536"/>
                </a:solidFill>
              </a:rPr>
              <a:t>WHERE id = :id</a:t>
            </a:r>
          </a:p>
          <a:p xmlns:a="http://schemas.openxmlformats.org/drawingml/2006/main">
            <a:pPr>
              <a:defRPr sz="1125" b="0">
                <a:solidFill>
                  <a:srgbClr val="172536"/>
                </a:solidFill>
              </a:defRPr>
            </a:pPr>
            <a:r>
              <a:rPr sz="1125" b="0">
                <a:solidFill>
                  <a:srgbClr val="172536"/>
                </a:solidFill>
              </a:rPr>
              <a:t>  AND stock &gt;= :minimo;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72536"/>
                </a:solidFill>
              </a:defRPr>
            </a:pPr>
            <a:r>
              <a:rPr sz="1125" b="0">
                <a:solidFill>
                  <a:srgbClr val="172536"/>
                </a:solidFill>
              </a:rPr>
              <a:t>if ($stmt-&gt;rowCount() !== 1) {</a:t>
            </a:r>
          </a:p>
          <a:p xmlns:a="http://schemas.openxmlformats.org/drawingml/2006/main">
            <a:pPr>
              <a:defRPr sz="1125" b="0">
                <a:solidFill>
                  <a:srgbClr val="172536"/>
                </a:solidFill>
              </a:defRPr>
            </a:pPr>
            <a:r>
              <a:rPr sz="1125" b="0">
                <a:solidFill>
                  <a:srgbClr val="172536"/>
                </a:solidFill>
              </a:rPr>
              <a:t>    throw new Conflicto('Stock insuficiente'); // HTTP 409</a:t>
            </a:r>
          </a:p>
          <a:p xmlns:a="http://schemas.openxmlformats.org/drawingml/2006/main">
            <a:pPr>
              <a:defRPr sz="1125" b="0">
                <a:solidFill>
                  <a:srgbClr val="172536"/>
                </a:solidFill>
              </a:defRPr>
            </a:pPr>
            <a:r>
              <a:rPr sz="1125" b="0">
                <a:solidFill>
                  <a:srgbClr val="172536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3F00E-7861-4EE4-BCAF-C03B89D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430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QUÉ SIGNIFICA CADA CONDICIÓN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93C34-1330-4B4F-AB9C-5DF61364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:cantidad e :id se enlazan como parámetros; no se concatenan en SQL.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2FAA5-9FB5-43C8-9ECF-6E38E98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stock &gt;= :minimo se evalúa en MySQL al momento del UPDATE.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DB7E2-B446-4091-B5EC-F4DC4699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Si dos solicitudes compran la última unidad, solo una actualización afecta una fila.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29434-F546-491A-AA30-7CAD3856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5287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rowCount() igual a cero indica conflicto: no se crea una venta incompleta.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F7314-1A86-4E76-A7F8-D866C0E6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933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13215-7C59-47CA-9639-A06C2C4B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114925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Resultado esperado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D4133-B737-4B3E-961C-C8D371CF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419725"/>
            <a:ext cx="899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Una venta con stock insuficiente devuelve 409. El rollback evita que se reste otro producto, que se inserte la venta o que cambie el total.</a:t>
            </a:r>
          </a:p>
        </p:txBody>
      </p:sp>
    </p:spTree>
    <p:extLst>
      <p:ext uri="{BB962C8B-B14F-4D97-AF65-F5344CB8AC3E}">
        <p14:creationId xmlns:p14="http://schemas.microsoft.com/office/powerpoint/2010/main" val="10291383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E159E-A521-4753-BA4A-A70B8DEF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1BF4B-C531-44D3-ADFE-21203CA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154C2-9DF0-4D9B-900B-08473A0E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B6DD4-1BA5-4C3C-8DEE-6D2F985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Transacciones: cómo se evita una venta parcial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EE52C-CD7E-4580-B2F0-D72BA41F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13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6D62D-766A-4A2C-9928-8E931A01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536"/>
                </a:solidFill>
              </a:defRPr>
            </a:defPPr>
            <a:lvl1pPr>
              <a:defRPr sz="1650" b="1">
                <a:solidFill>
                  <a:srgbClr val="172536"/>
                </a:solidFill>
              </a:defRPr>
            </a:lvl1pPr>
            <a:lvl2pPr>
              <a:defRPr sz="1650" b="1">
                <a:solidFill>
                  <a:srgbClr val="172536"/>
                </a:solidFill>
              </a:defRPr>
            </a:lvl2pPr>
            <a:lvl3pPr>
              <a:defRPr sz="1650" b="1">
                <a:solidFill>
                  <a:srgbClr val="172536"/>
                </a:solidFill>
              </a:defRPr>
            </a:lvl3pPr>
            <a:lvl4pPr>
              <a:defRPr sz="1650" b="1">
                <a:solidFill>
                  <a:srgbClr val="172536"/>
                </a:solidFill>
              </a:defRPr>
            </a:lvl4pPr>
            <a:lvl5pPr>
              <a:defRPr sz="1650" b="1">
                <a:solidFill>
                  <a:srgbClr val="172536"/>
                </a:solidFill>
              </a:defRPr>
            </a:lvl5pPr>
            <a:lvl6pPr>
              <a:defRPr sz="1650" b="1">
                <a:solidFill>
                  <a:srgbClr val="172536"/>
                </a:solidFill>
              </a:defRPr>
            </a:lvl6pPr>
            <a:lvl7pPr>
              <a:defRPr sz="1650" b="1">
                <a:solidFill>
                  <a:srgbClr val="172536"/>
                </a:solidFill>
              </a:defRPr>
            </a:lvl7pPr>
            <a:lvl8pPr>
              <a:defRPr sz="1650" b="1">
                <a:solidFill>
                  <a:srgbClr val="172536"/>
                </a:solidFill>
              </a:defRPr>
            </a:lvl8pPr>
            <a:lvl9pPr>
              <a:defRPr sz="1650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536"/>
                </a:solidFill>
              </a:defRPr>
            </a:pPr>
            <a:r>
              <a:rPr sz="1650" b="1">
                <a:solidFill>
                  <a:srgbClr val="172536"/>
                </a:solidFill>
              </a:rPr>
              <a:t>Escenario: una venta intenta registrar dos productos. El primero tiene stock; el segundo 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42EB7-1092-4FB4-B795-9D270F44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286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CE5DE"/>
          </a:solidFill>
          <a:ln xmlns:a="http://schemas.openxmlformats.org/drawingml/2006/main" w="0">
            <a:solidFill>
              <a:srgbClr val="FCE5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869C0-6F25-41F6-88A6-C1E7EADF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Sin transacción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FE02D-57D4-40FF-A7C6-A8571C4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57525"/>
            <a:ext cx="3943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Podría disminuirse el primer stock y después fallar el segundo. El inventario quedaría alterado aunque la venta no fuera válida.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CF75F-AFB0-408D-BEE4-F21D40EA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4286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0">
            <a:solidFill>
              <a:srgbClr val="E4F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186B6-6A10-4379-96B4-B1D52E86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52725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Con transacción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18038-BE05-4391-9FC7-7168E525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57525"/>
            <a:ext cx="3943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Se detecta el fallo, se ejecuta rollback() y se deshacen todas las instrucciones anteriores de esa venta. La base queda coherente.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2CB51-29AE-4B67-9E95-546A9FB9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Flujo de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E12EF-19DB-44D9-B1C6-D309010E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962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3D977-7F9A-40F1-A4E9-14C8EB2E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927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beginTransaction()  →  validar y actualizar  →  commit()</a:t>
            </a:r>
          </a:p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                         ↓ error</a:t>
            </a:r>
          </a:p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                    rollback()  →  respuesta 409 / datos sin cambios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ED649-43EA-43BD-9E91-E377C40B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971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0">
                <a:solidFill>
                  <a:srgbClr val="5C6670"/>
                </a:solidFill>
              </a:defRPr>
            </a:defPPr>
            <a:lvl1pPr>
              <a:defRPr sz="1238" b="0">
                <a:solidFill>
                  <a:srgbClr val="5C6670"/>
                </a:solidFill>
              </a:defRPr>
            </a:lvl1pPr>
            <a:lvl2pPr>
              <a:defRPr sz="1238" b="0">
                <a:solidFill>
                  <a:srgbClr val="5C6670"/>
                </a:solidFill>
              </a:defRPr>
            </a:lvl2pPr>
            <a:lvl3pPr>
              <a:defRPr sz="1238" b="0">
                <a:solidFill>
                  <a:srgbClr val="5C6670"/>
                </a:solidFill>
              </a:defRPr>
            </a:lvl3pPr>
            <a:lvl4pPr>
              <a:defRPr sz="1238" b="0">
                <a:solidFill>
                  <a:srgbClr val="5C6670"/>
                </a:solidFill>
              </a:defRPr>
            </a:lvl4pPr>
            <a:lvl5pPr>
              <a:defRPr sz="1238" b="0">
                <a:solidFill>
                  <a:srgbClr val="5C6670"/>
                </a:solidFill>
              </a:defRPr>
            </a:lvl5pPr>
            <a:lvl6pPr>
              <a:defRPr sz="1238" b="0">
                <a:solidFill>
                  <a:srgbClr val="5C6670"/>
                </a:solidFill>
              </a:defRPr>
            </a:lvl6pPr>
            <a:lvl7pPr>
              <a:defRPr sz="1238" b="0">
                <a:solidFill>
                  <a:srgbClr val="5C6670"/>
                </a:solidFill>
              </a:defRPr>
            </a:lvl7pPr>
            <a:lvl8pPr>
              <a:defRPr sz="1238" b="0">
                <a:solidFill>
                  <a:srgbClr val="5C6670"/>
                </a:solidFill>
              </a:defRPr>
            </a:lvl8pPr>
            <a:lvl9pPr>
              <a:defRPr sz="1238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1238" b="0">
                <a:solidFill>
                  <a:srgbClr val="5C6670"/>
                </a:solidFill>
              </a:defRPr>
            </a:pPr>
            <a:r>
              <a:rPr sz="1238" b="0">
                <a:solidFill>
                  <a:srgbClr val="5C6670"/>
                </a:solidFill>
              </a:rPr>
              <a:t>La transacción no “oculta” un error: lo informa al usuario y evita que el sistema acumule datos incongruentes.</a:t>
            </a:r>
          </a:p>
        </p:txBody>
      </p:sp>
    </p:spTree>
    <p:extLst>
      <p:ext uri="{BB962C8B-B14F-4D97-AF65-F5344CB8AC3E}">
        <p14:creationId xmlns:p14="http://schemas.microsoft.com/office/powerpoint/2010/main" val="16974113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B562A-568C-4E96-9A1D-07E5AF67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E05D3-7E02-472C-978A-40B09747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499D0-C34E-4DC1-844A-E76B4A05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0BC0C-CE2A-4B1F-88CA-BCBA4E55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Registro de acopio: aumenta stock y conserva trazabilidad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5B0B3-9359-4DD1-8753-197F630A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14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8F7A0-EA9F-4D34-BE05-819C80BC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6238875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52496-6F56-494A-B13D-22E64B7E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58959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65" b="0">
                <a:solidFill>
                  <a:srgbClr val="172536"/>
                </a:solidFill>
              </a:defRPr>
            </a:defPPr>
            <a:lvl1pPr>
              <a:defRPr sz="1065" b="0">
                <a:solidFill>
                  <a:srgbClr val="172536"/>
                </a:solidFill>
              </a:defRPr>
            </a:lvl1pPr>
            <a:lvl2pPr>
              <a:defRPr sz="1065" b="0">
                <a:solidFill>
                  <a:srgbClr val="172536"/>
                </a:solidFill>
              </a:defRPr>
            </a:lvl2pPr>
            <a:lvl3pPr>
              <a:defRPr sz="1065" b="0">
                <a:solidFill>
                  <a:srgbClr val="172536"/>
                </a:solidFill>
              </a:defRPr>
            </a:lvl3pPr>
            <a:lvl4pPr>
              <a:defRPr sz="1065" b="0">
                <a:solidFill>
                  <a:srgbClr val="172536"/>
                </a:solidFill>
              </a:defRPr>
            </a:lvl4pPr>
            <a:lvl5pPr>
              <a:defRPr sz="1065" b="0">
                <a:solidFill>
                  <a:srgbClr val="172536"/>
                </a:solidFill>
              </a:defRPr>
            </a:lvl5pPr>
            <a:lvl6pPr>
              <a:defRPr sz="1065" b="0">
                <a:solidFill>
                  <a:srgbClr val="172536"/>
                </a:solidFill>
              </a:defRPr>
            </a:lvl6pPr>
            <a:lvl7pPr>
              <a:defRPr sz="1065" b="0">
                <a:solidFill>
                  <a:srgbClr val="172536"/>
                </a:solidFill>
              </a:defRPr>
            </a:lvl7pPr>
            <a:lvl8pPr>
              <a:defRPr sz="1065" b="0">
                <a:solidFill>
                  <a:srgbClr val="172536"/>
                </a:solidFill>
              </a:defRPr>
            </a:lvl8pPr>
            <a:lvl9pPr>
              <a:defRPr sz="1065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065" b="0">
                <a:solidFill>
                  <a:srgbClr val="172536"/>
                </a:solidFill>
              </a:defRPr>
            </a:pPr>
            <a:r>
              <a:rPr sz="1065" b="0">
                <a:solidFill>
                  <a:srgbClr val="172536"/>
                </a:solidFill>
              </a:rPr>
              <a:t>SELECT id, socio_id</a:t>
            </a:r>
          </a:p>
          <a:p xmlns:a="http://schemas.openxmlformats.org/drawingml/2006/main">
            <a:pPr>
              <a:defRPr sz="1065" b="0">
                <a:solidFill>
                  <a:srgbClr val="172536"/>
                </a:solidFill>
              </a:defRPr>
            </a:pPr>
            <a:r>
              <a:rPr sz="1065" b="0">
                <a:solidFill>
                  <a:srgbClr val="172536"/>
                </a:solidFill>
              </a:rPr>
              <a:t>FROM productos</a:t>
            </a:r>
          </a:p>
          <a:p xmlns:a="http://schemas.openxmlformats.org/drawingml/2006/main">
            <a:pPr>
              <a:defRPr sz="1065" b="0">
                <a:solidFill>
                  <a:srgbClr val="172536"/>
                </a:solidFill>
              </a:defRPr>
            </a:pPr>
            <a:r>
              <a:rPr sz="1065" b="0">
                <a:solidFill>
                  <a:srgbClr val="172536"/>
                </a:solidFill>
              </a:rPr>
              <a:t>WHERE codigo = ?</a:t>
            </a:r>
          </a:p>
          <a:p xmlns:a="http://schemas.openxmlformats.org/drawingml/2006/main">
            <a:pPr>
              <a:defRPr sz="1065" b="0">
                <a:solidFill>
                  <a:srgbClr val="172536"/>
                </a:solidFill>
              </a:defRPr>
            </a:pPr>
            <a:r>
              <a:rPr sz="1065" b="0">
                <a:solidFill>
                  <a:srgbClr val="172536"/>
                </a:solidFill>
              </a:rPr>
              <a:t>FOR UPDATE;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65" b="0">
                <a:solidFill>
                  <a:srgbClr val="172536"/>
                </a:solidFill>
              </a:defRPr>
            </a:pPr>
            <a:r>
              <a:rPr sz="1065" b="0">
                <a:solidFill>
                  <a:srgbClr val="172536"/>
                </a:solidFill>
              </a:rPr>
              <a:t>INSERT INTO acopios (fecha, socio_id, producto_id, cantidad, precio_pagado)</a:t>
            </a:r>
          </a:p>
          <a:p xmlns:a="http://schemas.openxmlformats.org/drawingml/2006/main">
            <a:pPr>
              <a:defRPr sz="1065" b="0">
                <a:solidFill>
                  <a:srgbClr val="172536"/>
                </a:solidFill>
              </a:defRPr>
            </a:pPr>
            <a:r>
              <a:rPr sz="1065" b="0">
                <a:solidFill>
                  <a:srgbClr val="172536"/>
                </a:solidFill>
              </a:rPr>
              <a:t>VALUES (NOW(), ?, ?, ?, ?);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65" b="0">
                <a:solidFill>
                  <a:srgbClr val="172536"/>
                </a:solidFill>
              </a:defRPr>
            </a:pPr>
            <a:r>
              <a:rPr sz="1065" b="0">
                <a:solidFill>
                  <a:srgbClr val="172536"/>
                </a:solidFill>
              </a:rPr>
              <a:t>UPDATE productos SET stock = stock + ? WHERE id = ?;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A0A12-E3EC-46CA-B493-A3D5EC1F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240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POR QUÉ SE CONSULTA CON FOR 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F44E9-8050-43F3-869B-CAD7DB66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860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Bloquea temporalmente la fila del producto durante la operación.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A34B2-5E60-4CAE-89C6-BEC5E1F3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051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Permite obtener el socio dueño del producto y registrar el movimiento correcto.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9ADD3-2124-454D-A665-9FFAEBE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Luego se inserta el acopio y se incrementa el stock en la misma transacción.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8BCA5-2402-48CC-BC9A-972846A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433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Cantidad o precio pagado igual a cero se rechazan como datos inválidos.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7904A-B5B5-4AE2-892E-CCC35C70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00625"/>
            <a:ext cx="91440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B77D0-0486-40C1-89B8-B1BCA218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62550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Trazabilidad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F6110-DE54-4E94-A7AB-D328134E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67350"/>
            <a:ext cx="8801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El stock final no es el único dato importante. La tabla acopios indica qué socio entregó el producto, cuándo, cuántas unidades y a qué precio se pagó.</a:t>
            </a:r>
          </a:p>
        </p:txBody>
      </p:sp>
    </p:spTree>
    <p:extLst>
      <p:ext uri="{BB962C8B-B14F-4D97-AF65-F5344CB8AC3E}">
        <p14:creationId xmlns:p14="http://schemas.microsoft.com/office/powerpoint/2010/main" val="15380846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234AB-2993-40B2-ACB1-BCB2E85B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E85A0-59CB-4F66-A60D-0C587E9C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4DE1B-6B82-4C05-B4CC-E4F15ACF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B804F-D8CF-42B1-A735-D20CE30A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Reportes SQL: cada consulta responde una pregunta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6DC90-9BDB-4D10-B40A-7D783C20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15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6195-9D3F-4F76-B5B9-41F16A32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536"/>
                </a:solidFill>
              </a:defRPr>
            </a:defPPr>
            <a:lvl1pPr>
              <a:defRPr sz="1650" b="1">
                <a:solidFill>
                  <a:srgbClr val="172536"/>
                </a:solidFill>
              </a:defRPr>
            </a:lvl1pPr>
            <a:lvl2pPr>
              <a:defRPr sz="1650" b="1">
                <a:solidFill>
                  <a:srgbClr val="172536"/>
                </a:solidFill>
              </a:defRPr>
            </a:lvl2pPr>
            <a:lvl3pPr>
              <a:defRPr sz="1650" b="1">
                <a:solidFill>
                  <a:srgbClr val="172536"/>
                </a:solidFill>
              </a:defRPr>
            </a:lvl3pPr>
            <a:lvl4pPr>
              <a:defRPr sz="1650" b="1">
                <a:solidFill>
                  <a:srgbClr val="172536"/>
                </a:solidFill>
              </a:defRPr>
            </a:lvl4pPr>
            <a:lvl5pPr>
              <a:defRPr sz="1650" b="1">
                <a:solidFill>
                  <a:srgbClr val="172536"/>
                </a:solidFill>
              </a:defRPr>
            </a:lvl5pPr>
            <a:lvl6pPr>
              <a:defRPr sz="1650" b="1">
                <a:solidFill>
                  <a:srgbClr val="172536"/>
                </a:solidFill>
              </a:defRPr>
            </a:lvl6pPr>
            <a:lvl7pPr>
              <a:defRPr sz="1650" b="1">
                <a:solidFill>
                  <a:srgbClr val="172536"/>
                </a:solidFill>
              </a:defRPr>
            </a:lvl7pPr>
            <a:lvl8pPr>
              <a:defRPr sz="1650" b="1">
                <a:solidFill>
                  <a:srgbClr val="172536"/>
                </a:solidFill>
              </a:defRPr>
            </a:lvl8pPr>
            <a:lvl9pPr>
              <a:defRPr sz="1650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536"/>
                </a:solidFill>
              </a:defRPr>
            </a:pPr>
            <a:r>
              <a:rPr sz="1650" b="1">
                <a:solidFill>
                  <a:srgbClr val="172536"/>
                </a:solidFill>
              </a:rPr>
              <a:t>Los reportes no repiten cálculos en la pantalla. La base agrupa, suma y filtra antes de entregar resultados.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D30D0-04EC-4B12-A04E-207A2D6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BDC27-5791-44C3-84F4-B51F9965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¿Cuánto se vendió cada mes?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A7529-A47B-4A58-B735-51E2BCC4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DATE_FORMAT + COUNT + SUM + GROUP BY. Convierte muchas ventas en una fila por 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05501-8841-4F09-A8B8-50F91591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653E3-C3EB-4FC9-BC35-8CF93EA4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336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¿Qué cinco productos venden más?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44F93-5AA4-4EB3-BF8A-1C333A1D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384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JOIN entre venta_detalle, ventas y productos; SUM de cantidades e importe; ORDER BY y LIMIT 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91A16-867A-4715-97E2-CC16718F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5F7F4-8E09-41EE-A1BD-733483A5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¿Qué socios superan Bs 3.000?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0AE15-3BC0-4DFE-8203-E35163A8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384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JOIN hasta socios y HAVING sobre el importe total, porque el valor se calcula con SUM.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FF703-ACDA-422D-A140-17086B46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238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45FF7-FEA5-46DD-B5BA-C32CF1F7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¿Qué no se vendió?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235CF-AB49-423F-B214-9A1BDA71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9675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LEFT JOIN. Si el producto no aparece en los vendidos, el resultado unido queda NULL.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8A0CE-402F-4E64-8097-3341280F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3238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9B0B6-A071-4E69-902D-61D8AC3F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148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¿Cómo se exporta el detalle?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05E10-D7B7-49E4-86AA-70B27E34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19675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Una consulta devuelve cada línea de venta con cliente, producto, cantidad, precio y subtotal.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BF3F6-EB6E-46A9-991B-D9E63344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3238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78733-3542-4E13-8F30-EA78BE9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148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¿Por qué pasar fechas?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5FFF2-3076-4EC6-AC79-FC6CD4BA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El usuario limita el periodo y las consultas usan parámetros preparados para filtrar de forma segura.</a:t>
            </a:r>
          </a:p>
        </p:txBody>
      </p:sp>
    </p:spTree>
    <p:extLst>
      <p:ext uri="{BB962C8B-B14F-4D97-AF65-F5344CB8AC3E}">
        <p14:creationId xmlns:p14="http://schemas.microsoft.com/office/powerpoint/2010/main" val="20288011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62D6E-A1F2-4194-B94B-A58619F1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929AC-1990-4146-B765-0C9E89C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DAC54-1D7E-468A-A754-B594432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13E71-6952-41A5-AD3C-C969035A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Consulta “ventas por mes”: agrupar sin perder el filtro de fechas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FE8FF-BA9E-4FFD-B2CB-AB8FB368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16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B26D3-BFD7-4196-9341-80050CC3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609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E5E91-64F2-420A-AEF0-442A4C0C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575310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SELECT DATE_FORMAT(v.fecha, '%Y-%m') AS mes,</a:t>
            </a:r>
          </a:p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       COUNT(*) AS ventas,</a:t>
            </a:r>
          </a:p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       SUM(v.total) AS total</a:t>
            </a:r>
          </a:p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FROM ventas v</a:t>
            </a:r>
          </a:p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WHERE v.fecha &gt;= :desde AND v.fecha &lt; :hasta</a:t>
            </a:r>
          </a:p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GROUP BY mes</a:t>
            </a:r>
          </a:p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ORDER BY mes;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5836F-6433-46D3-8558-D941BE6A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85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INTERPRETACIÓN DE LA CONSULTA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42115-3D05-4322-8649-02D23A84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38375"/>
            <a:ext cx="366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DATE_FORMAT crea la etiqueta 2026-07, 2026-08, etc.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3150E-51A2-42CA-A0E5-939CCDA8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90825"/>
            <a:ext cx="366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COUNT(*) cuenta ventas; SUM(v.total) calcula el importe total.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3D218-1F77-4939-A1DE-33CC9C61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43275"/>
            <a:ext cx="366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GROUP BY mes hace una fila por mes, no una fila por venta.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C4828-F76C-4C0E-A1ED-845BA0FD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95725"/>
            <a:ext cx="366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 b="0">
                <a:solidFill>
                  <a:srgbClr val="172536"/>
                </a:solidFill>
              </a:defRPr>
            </a:defPPr>
            <a:lvl1pPr>
              <a:defRPr sz="1313" b="0">
                <a:solidFill>
                  <a:srgbClr val="172536"/>
                </a:solidFill>
              </a:defRPr>
            </a:lvl1pPr>
            <a:lvl2pPr>
              <a:defRPr sz="1313" b="0">
                <a:solidFill>
                  <a:srgbClr val="172536"/>
                </a:solidFill>
              </a:defRPr>
            </a:lvl2pPr>
            <a:lvl3pPr>
              <a:defRPr sz="1313" b="0">
                <a:solidFill>
                  <a:srgbClr val="172536"/>
                </a:solidFill>
              </a:defRPr>
            </a:lvl3pPr>
            <a:lvl4pPr>
              <a:defRPr sz="1313" b="0">
                <a:solidFill>
                  <a:srgbClr val="172536"/>
                </a:solidFill>
              </a:defRPr>
            </a:lvl4pPr>
            <a:lvl5pPr>
              <a:defRPr sz="1313" b="0">
                <a:solidFill>
                  <a:srgbClr val="172536"/>
                </a:solidFill>
              </a:defRPr>
            </a:lvl5pPr>
            <a:lvl6pPr>
              <a:defRPr sz="1313" b="0">
                <a:solidFill>
                  <a:srgbClr val="172536"/>
                </a:solidFill>
              </a:defRPr>
            </a:lvl6pPr>
            <a:lvl7pPr>
              <a:defRPr sz="1313" b="0">
                <a:solidFill>
                  <a:srgbClr val="172536"/>
                </a:solidFill>
              </a:defRPr>
            </a:lvl7pPr>
            <a:lvl8pPr>
              <a:defRPr sz="1313" b="0">
                <a:solidFill>
                  <a:srgbClr val="172536"/>
                </a:solidFill>
              </a:defRPr>
            </a:lvl8pPr>
            <a:lvl9pPr>
              <a:defRPr sz="1313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13" b="0">
                <a:solidFill>
                  <a:srgbClr val="172536"/>
                </a:solidFill>
              </a:defRPr>
            </a:pPr>
            <a:r>
              <a:rPr sz="1313" b="0">
                <a:solidFill>
                  <a:srgbClr val="172536"/>
                </a:solidFill>
              </a:rPr>
              <a:t>•  El filtro usa &lt; :hasta, donde hasta es el día siguiente a las 00:00.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560A2-C7C3-4F1C-94B0-F328E0FE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05375"/>
            <a:ext cx="942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3D092-716D-4F3D-BD28-805CDDAB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6730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Detalle importante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D5A8E-336C-44C6-9340-A5831443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72100"/>
            <a:ext cx="908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El límite superior exclusivo incluye completo el último día elegido. Por ejemplo, hasta 30/09 se transforma en &lt; 01/10 00:00:00; por eso una venta del 30/09 a las 16:00 sí entra.</a:t>
            </a:r>
          </a:p>
        </p:txBody>
      </p:sp>
    </p:spTree>
    <p:extLst>
      <p:ext uri="{BB962C8B-B14F-4D97-AF65-F5344CB8AC3E}">
        <p14:creationId xmlns:p14="http://schemas.microsoft.com/office/powerpoint/2010/main" val="19979321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C5269-FD48-4C97-972C-96638E21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42A1D-96B8-4969-BA5F-0ED4646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927CE-57F3-4FD7-8767-7C12CEBE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2818F-BF32-42A9-A7E2-785BB834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Top de productos y socios destacados: JOIN, SUM, ORDER BY, LIMIT y HAVING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E1508-041C-4DC0-92A5-0BE64A8B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17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B8017-5F97-4869-89C0-17F755B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429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6CCA0-11AD-4F71-801C-DC68315A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086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8" b="0">
                <a:solidFill>
                  <a:srgbClr val="172536"/>
                </a:solidFill>
              </a:defRPr>
            </a:defPPr>
            <a:lvl1pPr>
              <a:defRPr sz="998" b="0">
                <a:solidFill>
                  <a:srgbClr val="172536"/>
                </a:solidFill>
              </a:defRPr>
            </a:lvl1pPr>
            <a:lvl2pPr>
              <a:defRPr sz="998" b="0">
                <a:solidFill>
                  <a:srgbClr val="172536"/>
                </a:solidFill>
              </a:defRPr>
            </a:lvl2pPr>
            <a:lvl3pPr>
              <a:defRPr sz="998" b="0">
                <a:solidFill>
                  <a:srgbClr val="172536"/>
                </a:solidFill>
              </a:defRPr>
            </a:lvl3pPr>
            <a:lvl4pPr>
              <a:defRPr sz="998" b="0">
                <a:solidFill>
                  <a:srgbClr val="172536"/>
                </a:solidFill>
              </a:defRPr>
            </a:lvl4pPr>
            <a:lvl5pPr>
              <a:defRPr sz="998" b="0">
                <a:solidFill>
                  <a:srgbClr val="172536"/>
                </a:solidFill>
              </a:defRPr>
            </a:lvl5pPr>
            <a:lvl6pPr>
              <a:defRPr sz="998" b="0">
                <a:solidFill>
                  <a:srgbClr val="172536"/>
                </a:solidFill>
              </a:defRPr>
            </a:lvl6pPr>
            <a:lvl7pPr>
              <a:defRPr sz="998" b="0">
                <a:solidFill>
                  <a:srgbClr val="172536"/>
                </a:solidFill>
              </a:defRPr>
            </a:lvl7pPr>
            <a:lvl8pPr>
              <a:defRPr sz="998" b="0">
                <a:solidFill>
                  <a:srgbClr val="172536"/>
                </a:solidFill>
              </a:defRPr>
            </a:lvl8pPr>
            <a:lvl9pPr>
              <a:defRPr sz="99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998" b="0">
                <a:solidFill>
                  <a:srgbClr val="172536"/>
                </a:solidFill>
              </a:defRPr>
            </a:pPr>
            <a:r>
              <a:rPr sz="998" b="0">
                <a:solidFill>
                  <a:srgbClr val="172536"/>
                </a:solidFill>
              </a:rPr>
              <a:t>-- Top 5</a:t>
            </a:r>
          </a:p>
          <a:p xmlns:a="http://schemas.openxmlformats.org/drawingml/2006/main">
            <a:pPr>
              <a:defRPr sz="998" b="0">
                <a:solidFill>
                  <a:srgbClr val="172536"/>
                </a:solidFill>
              </a:defRPr>
            </a:pPr>
            <a:r>
              <a:rPr sz="998" b="0">
                <a:solidFill>
                  <a:srgbClr val="172536"/>
                </a:solidFill>
              </a:rPr>
              <a:t>SELECT p.codigo, p.nombre, SUM(d.cantidad) AS unidades,</a:t>
            </a:r>
          </a:p>
          <a:p xmlns:a="http://schemas.openxmlformats.org/drawingml/2006/main">
            <a:pPr>
              <a:defRPr sz="998" b="0">
                <a:solidFill>
                  <a:srgbClr val="172536"/>
                </a:solidFill>
              </a:defRPr>
            </a:pPr>
            <a:r>
              <a:rPr sz="998" b="0">
                <a:solidFill>
                  <a:srgbClr val="172536"/>
                </a:solidFill>
              </a:rPr>
              <a:t>       SUM(d.cantidad * d.precio_unitario) AS importe</a:t>
            </a:r>
          </a:p>
          <a:p xmlns:a="http://schemas.openxmlformats.org/drawingml/2006/main">
            <a:pPr>
              <a:defRPr sz="998" b="0">
                <a:solidFill>
                  <a:srgbClr val="172536"/>
                </a:solidFill>
              </a:defRPr>
            </a:pPr>
            <a:r>
              <a:rPr sz="998" b="0">
                <a:solidFill>
                  <a:srgbClr val="172536"/>
                </a:solidFill>
              </a:rPr>
              <a:t>FROM venta_detalle d JOIN ventas v ON v.id=d.venta_id</a:t>
            </a:r>
          </a:p>
          <a:p xmlns:a="http://schemas.openxmlformats.org/drawingml/2006/main">
            <a:pPr>
              <a:defRPr sz="998" b="0">
                <a:solidFill>
                  <a:srgbClr val="172536"/>
                </a:solidFill>
              </a:defRPr>
            </a:pPr>
            <a:r>
              <a:rPr sz="998" b="0">
                <a:solidFill>
                  <a:srgbClr val="172536"/>
                </a:solidFill>
              </a:rPr>
              <a:t>JOIN productos p ON p.id=d.producto_id</a:t>
            </a:r>
          </a:p>
          <a:p xmlns:a="http://schemas.openxmlformats.org/drawingml/2006/main">
            <a:pPr>
              <a:defRPr sz="998" b="0">
                <a:solidFill>
                  <a:srgbClr val="172536"/>
                </a:solidFill>
              </a:defRPr>
            </a:pPr>
            <a:r>
              <a:rPr sz="998" b="0">
                <a:solidFill>
                  <a:srgbClr val="172536"/>
                </a:solidFill>
              </a:rPr>
              <a:t>... GROUP BY p.id, p.codigo, p.nombre</a:t>
            </a:r>
          </a:p>
          <a:p xmlns:a="http://schemas.openxmlformats.org/drawingml/2006/main">
            <a:pPr>
              <a:defRPr sz="998" b="0">
                <a:solidFill>
                  <a:srgbClr val="172536"/>
                </a:solidFill>
              </a:defRPr>
            </a:pPr>
            <a:r>
              <a:rPr sz="998" b="0">
                <a:solidFill>
                  <a:srgbClr val="172536"/>
                </a:solidFill>
              </a:rPr>
              <a:t>ORDER BY importe DESC, p.codigo LIMIT :limite;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D4B51-DD37-4531-B3C0-8A2B4844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7E1AB-9073-4D25-88C3-944EFC7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95475"/>
            <a:ext cx="48006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82" b="0">
                <a:solidFill>
                  <a:srgbClr val="172536"/>
                </a:solidFill>
              </a:defRPr>
            </a:defPPr>
            <a:lvl1pPr>
              <a:defRPr sz="982" b="0">
                <a:solidFill>
                  <a:srgbClr val="172536"/>
                </a:solidFill>
              </a:defRPr>
            </a:lvl1pPr>
            <a:lvl2pPr>
              <a:defRPr sz="982" b="0">
                <a:solidFill>
                  <a:srgbClr val="172536"/>
                </a:solidFill>
              </a:defRPr>
            </a:lvl2pPr>
            <a:lvl3pPr>
              <a:defRPr sz="982" b="0">
                <a:solidFill>
                  <a:srgbClr val="172536"/>
                </a:solidFill>
              </a:defRPr>
            </a:lvl3pPr>
            <a:lvl4pPr>
              <a:defRPr sz="982" b="0">
                <a:solidFill>
                  <a:srgbClr val="172536"/>
                </a:solidFill>
              </a:defRPr>
            </a:lvl4pPr>
            <a:lvl5pPr>
              <a:defRPr sz="982" b="0">
                <a:solidFill>
                  <a:srgbClr val="172536"/>
                </a:solidFill>
              </a:defRPr>
            </a:lvl5pPr>
            <a:lvl6pPr>
              <a:defRPr sz="982" b="0">
                <a:solidFill>
                  <a:srgbClr val="172536"/>
                </a:solidFill>
              </a:defRPr>
            </a:lvl6pPr>
            <a:lvl7pPr>
              <a:defRPr sz="982" b="0">
                <a:solidFill>
                  <a:srgbClr val="172536"/>
                </a:solidFill>
              </a:defRPr>
            </a:lvl7pPr>
            <a:lvl8pPr>
              <a:defRPr sz="982" b="0">
                <a:solidFill>
                  <a:srgbClr val="172536"/>
                </a:solidFill>
              </a:defRPr>
            </a:lvl8pPr>
            <a:lvl9pPr>
              <a:defRPr sz="982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982" b="0">
                <a:solidFill>
                  <a:srgbClr val="172536"/>
                </a:solidFill>
              </a:defRPr>
            </a:pPr>
            <a:r>
              <a:rPr sz="982" b="0">
                <a:solidFill>
                  <a:srgbClr val="172536"/>
                </a:solidFill>
              </a:rPr>
              <a:t>-- Socios con ventas iguales o mayores a Bs 3.000</a:t>
            </a:r>
          </a:p>
          <a:p xmlns:a="http://schemas.openxmlformats.org/drawingml/2006/main">
            <a:pPr>
              <a:defRPr sz="982" b="0">
                <a:solidFill>
                  <a:srgbClr val="172536"/>
                </a:solidFill>
              </a:defRPr>
            </a:pPr>
            <a:r>
              <a:rPr sz="982" b="0">
                <a:solidFill>
                  <a:srgbClr val="172536"/>
                </a:solidFill>
              </a:rPr>
              <a:t>SELECT s.nombre, s.comunidad,</a:t>
            </a:r>
          </a:p>
          <a:p xmlns:a="http://schemas.openxmlformats.org/drawingml/2006/main">
            <a:pPr>
              <a:defRPr sz="982" b="0">
                <a:solidFill>
                  <a:srgbClr val="172536"/>
                </a:solidFill>
              </a:defRPr>
            </a:pPr>
            <a:r>
              <a:rPr sz="982" b="0">
                <a:solidFill>
                  <a:srgbClr val="172536"/>
                </a:solidFill>
              </a:rPr>
              <a:t>       SUM(d.cantidad * d.precio_unitario) AS importe</a:t>
            </a:r>
          </a:p>
          <a:p xmlns:a="http://schemas.openxmlformats.org/drawingml/2006/main">
            <a:pPr>
              <a:defRPr sz="982" b="0">
                <a:solidFill>
                  <a:srgbClr val="172536"/>
                </a:solidFill>
              </a:defRPr>
            </a:pPr>
            <a:r>
              <a:rPr sz="982" b="0">
                <a:solidFill>
                  <a:srgbClr val="172536"/>
                </a:solidFill>
              </a:rPr>
              <a:t>FROM venta_detalle d ... JOIN socios s ON s.id=p.socio_id</a:t>
            </a:r>
          </a:p>
          <a:p xmlns:a="http://schemas.openxmlformats.org/drawingml/2006/main">
            <a:pPr>
              <a:defRPr sz="982" b="0">
                <a:solidFill>
                  <a:srgbClr val="172536"/>
                </a:solidFill>
              </a:defRPr>
            </a:pPr>
            <a:r>
              <a:rPr sz="982" b="0">
                <a:solidFill>
                  <a:srgbClr val="172536"/>
                </a:solidFill>
              </a:rPr>
              <a:t>... GROUP BY s.id, s.nombre, s.comunidad</a:t>
            </a:r>
          </a:p>
          <a:p xmlns:a="http://schemas.openxmlformats.org/drawingml/2006/main">
            <a:pPr>
              <a:defRPr sz="982" b="0">
                <a:solidFill>
                  <a:srgbClr val="172536"/>
                </a:solidFill>
              </a:defRPr>
            </a:pPr>
            <a:r>
              <a:rPr sz="982" b="0">
                <a:solidFill>
                  <a:srgbClr val="172536"/>
                </a:solidFill>
              </a:rPr>
              <a:t>HAVING importe &gt;= :minimo</a:t>
            </a:r>
          </a:p>
          <a:p xmlns:a="http://schemas.openxmlformats.org/drawingml/2006/main">
            <a:pPr>
              <a:defRPr sz="982" b="0">
                <a:solidFill>
                  <a:srgbClr val="172536"/>
                </a:solidFill>
              </a:defRPr>
            </a:pPr>
            <a:r>
              <a:rPr sz="982" b="0">
                <a:solidFill>
                  <a:srgbClr val="172536"/>
                </a:solidFill>
              </a:rPr>
              <a:t>ORDER BY importe DESC;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8FDCC-B52E-44A9-AAFE-54AF80FA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42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DEB1A-02B7-4599-AA0B-A5EB834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24425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Por qué HAVING y no WHERE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5767A-8669-4281-B438-5EF54800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229225"/>
            <a:ext cx="908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WHERE se aplica antes de agrupar; en ese momento aún no existe el total SUM. HAVING se ejecuta después del GROUP BY y sí puede filtrar el importe calculado.</a:t>
            </a:r>
          </a:p>
        </p:txBody>
      </p:sp>
    </p:spTree>
    <p:extLst>
      <p:ext uri="{BB962C8B-B14F-4D97-AF65-F5344CB8AC3E}">
        <p14:creationId xmlns:p14="http://schemas.microsoft.com/office/powerpoint/2010/main" val="10353227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6CF82-4AAD-47DE-A868-9C4708C4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0742B-EF2E-48CE-A0B2-882985AA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43082-7CBB-4AE3-BE06-9D431390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CF7E8-1EAD-47D4-B7A1-7AB07940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Productos sin ventas: qué demuestra un LEFT JOIN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96782-92DE-4F0C-BFB1-F83A045D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18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883AB-FBF6-4961-BB19-62278A2B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6286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431B8-2901-49EB-A584-7B69C27A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59436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8" b="0">
                <a:solidFill>
                  <a:srgbClr val="172536"/>
                </a:solidFill>
              </a:defRPr>
            </a:defPPr>
            <a:lvl1pPr>
              <a:defRPr sz="1058" b="0">
                <a:solidFill>
                  <a:srgbClr val="172536"/>
                </a:solidFill>
              </a:defRPr>
            </a:lvl1pPr>
            <a:lvl2pPr>
              <a:defRPr sz="1058" b="0">
                <a:solidFill>
                  <a:srgbClr val="172536"/>
                </a:solidFill>
              </a:defRPr>
            </a:lvl2pPr>
            <a:lvl3pPr>
              <a:defRPr sz="1058" b="0">
                <a:solidFill>
                  <a:srgbClr val="172536"/>
                </a:solidFill>
              </a:defRPr>
            </a:lvl3pPr>
            <a:lvl4pPr>
              <a:defRPr sz="1058" b="0">
                <a:solidFill>
                  <a:srgbClr val="172536"/>
                </a:solidFill>
              </a:defRPr>
            </a:lvl4pPr>
            <a:lvl5pPr>
              <a:defRPr sz="1058" b="0">
                <a:solidFill>
                  <a:srgbClr val="172536"/>
                </a:solidFill>
              </a:defRPr>
            </a:lvl5pPr>
            <a:lvl6pPr>
              <a:defRPr sz="1058" b="0">
                <a:solidFill>
                  <a:srgbClr val="172536"/>
                </a:solidFill>
              </a:defRPr>
            </a:lvl6pPr>
            <a:lvl7pPr>
              <a:defRPr sz="1058" b="0">
                <a:solidFill>
                  <a:srgbClr val="172536"/>
                </a:solidFill>
              </a:defRPr>
            </a:lvl7pPr>
            <a:lvl8pPr>
              <a:defRPr sz="1058" b="0">
                <a:solidFill>
                  <a:srgbClr val="172536"/>
                </a:solidFill>
              </a:defRPr>
            </a:lvl8pPr>
            <a:lvl9pPr>
              <a:defRPr sz="105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SELECT p.codigo, p.nombre, p.stock</a:t>
            </a:r>
          </a:p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FROM productos p</a:t>
            </a:r>
          </a:p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LEFT JOIN (</a:t>
            </a:r>
          </a:p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  SELECT DISTINCT d.producto_id</a:t>
            </a:r>
          </a:p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  FROM venta_detalle d</a:t>
            </a:r>
          </a:p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  JOIN ventas v ON v.id = d.venta_id</a:t>
            </a:r>
          </a:p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  WHERE v.fecha &gt;= :desde AND v.fecha &lt; :hasta</a:t>
            </a:r>
          </a:p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) vendidos ON vendidos.producto_id = p.id</a:t>
            </a:r>
          </a:p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WHERE vendidos.producto_id IS NULL</a:t>
            </a:r>
          </a:p>
          <a:p xmlns:a="http://schemas.openxmlformats.org/drawingml/2006/main">
            <a:pPr>
              <a:defRPr sz="1058" b="0">
                <a:solidFill>
                  <a:srgbClr val="172536"/>
                </a:solidFill>
              </a:defRPr>
            </a:pPr>
            <a:r>
              <a:rPr sz="1058" b="0">
                <a:solidFill>
                  <a:srgbClr val="172536"/>
                </a:solidFill>
              </a:rPr>
              <a:t>ORDER BY p.codigo;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8856C-73CB-47A4-B964-8B7E00C8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LECTURA 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9D44C-A690-44F3-91F9-0E9044E0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52650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90" b="0">
                <a:solidFill>
                  <a:srgbClr val="172536"/>
                </a:solidFill>
              </a:defRPr>
            </a:defPPr>
            <a:lvl1pPr>
              <a:defRPr sz="1290" b="0">
                <a:solidFill>
                  <a:srgbClr val="172536"/>
                </a:solidFill>
              </a:defRPr>
            </a:lvl1pPr>
            <a:lvl2pPr>
              <a:defRPr sz="1290" b="0">
                <a:solidFill>
                  <a:srgbClr val="172536"/>
                </a:solidFill>
              </a:defRPr>
            </a:lvl2pPr>
            <a:lvl3pPr>
              <a:defRPr sz="1290" b="0">
                <a:solidFill>
                  <a:srgbClr val="172536"/>
                </a:solidFill>
              </a:defRPr>
            </a:lvl3pPr>
            <a:lvl4pPr>
              <a:defRPr sz="1290" b="0">
                <a:solidFill>
                  <a:srgbClr val="172536"/>
                </a:solidFill>
              </a:defRPr>
            </a:lvl4pPr>
            <a:lvl5pPr>
              <a:defRPr sz="1290" b="0">
                <a:solidFill>
                  <a:srgbClr val="172536"/>
                </a:solidFill>
              </a:defRPr>
            </a:lvl5pPr>
            <a:lvl6pPr>
              <a:defRPr sz="1290" b="0">
                <a:solidFill>
                  <a:srgbClr val="172536"/>
                </a:solidFill>
              </a:defRPr>
            </a:lvl6pPr>
            <a:lvl7pPr>
              <a:defRPr sz="1290" b="0">
                <a:solidFill>
                  <a:srgbClr val="172536"/>
                </a:solidFill>
              </a:defRPr>
            </a:lvl7pPr>
            <a:lvl8pPr>
              <a:defRPr sz="1290" b="0">
                <a:solidFill>
                  <a:srgbClr val="172536"/>
                </a:solidFill>
              </a:defRPr>
            </a:lvl8pPr>
            <a:lvl9pPr>
              <a:defRPr sz="129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90" b="0">
                <a:solidFill>
                  <a:srgbClr val="172536"/>
                </a:solidFill>
              </a:defRPr>
            </a:pPr>
            <a:r>
              <a:rPr sz="1290" b="0">
                <a:solidFill>
                  <a:srgbClr val="172536"/>
                </a:solidFill>
              </a:rPr>
              <a:t>•  LEFT JOIN conserva todos los productos, incluso cuando no existe una venta relacionada.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4DA6F-1603-473A-9ABA-4B1FF620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62250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90" b="0">
                <a:solidFill>
                  <a:srgbClr val="172536"/>
                </a:solidFill>
              </a:defRPr>
            </a:defPPr>
            <a:lvl1pPr>
              <a:defRPr sz="1290" b="0">
                <a:solidFill>
                  <a:srgbClr val="172536"/>
                </a:solidFill>
              </a:defRPr>
            </a:lvl1pPr>
            <a:lvl2pPr>
              <a:defRPr sz="1290" b="0">
                <a:solidFill>
                  <a:srgbClr val="172536"/>
                </a:solidFill>
              </a:defRPr>
            </a:lvl2pPr>
            <a:lvl3pPr>
              <a:defRPr sz="1290" b="0">
                <a:solidFill>
                  <a:srgbClr val="172536"/>
                </a:solidFill>
              </a:defRPr>
            </a:lvl3pPr>
            <a:lvl4pPr>
              <a:defRPr sz="1290" b="0">
                <a:solidFill>
                  <a:srgbClr val="172536"/>
                </a:solidFill>
              </a:defRPr>
            </a:lvl4pPr>
            <a:lvl5pPr>
              <a:defRPr sz="1290" b="0">
                <a:solidFill>
                  <a:srgbClr val="172536"/>
                </a:solidFill>
              </a:defRPr>
            </a:lvl5pPr>
            <a:lvl6pPr>
              <a:defRPr sz="1290" b="0">
                <a:solidFill>
                  <a:srgbClr val="172536"/>
                </a:solidFill>
              </a:defRPr>
            </a:lvl6pPr>
            <a:lvl7pPr>
              <a:defRPr sz="1290" b="0">
                <a:solidFill>
                  <a:srgbClr val="172536"/>
                </a:solidFill>
              </a:defRPr>
            </a:lvl7pPr>
            <a:lvl8pPr>
              <a:defRPr sz="1290" b="0">
                <a:solidFill>
                  <a:srgbClr val="172536"/>
                </a:solidFill>
              </a:defRPr>
            </a:lvl8pPr>
            <a:lvl9pPr>
              <a:defRPr sz="129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90" b="0">
                <a:solidFill>
                  <a:srgbClr val="172536"/>
                </a:solidFill>
              </a:defRPr>
            </a:pPr>
            <a:r>
              <a:rPr sz="1290" b="0">
                <a:solidFill>
                  <a:srgbClr val="172536"/>
                </a:solidFill>
              </a:rPr>
              <a:t>•  La subconsulta identifica los productos vendidos en el periodo elegido.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012B7-2635-4521-AFC9-E512BF6F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71850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90" b="0">
                <a:solidFill>
                  <a:srgbClr val="172536"/>
                </a:solidFill>
              </a:defRPr>
            </a:defPPr>
            <a:lvl1pPr>
              <a:defRPr sz="1290" b="0">
                <a:solidFill>
                  <a:srgbClr val="172536"/>
                </a:solidFill>
              </a:defRPr>
            </a:lvl1pPr>
            <a:lvl2pPr>
              <a:defRPr sz="1290" b="0">
                <a:solidFill>
                  <a:srgbClr val="172536"/>
                </a:solidFill>
              </a:defRPr>
            </a:lvl2pPr>
            <a:lvl3pPr>
              <a:defRPr sz="1290" b="0">
                <a:solidFill>
                  <a:srgbClr val="172536"/>
                </a:solidFill>
              </a:defRPr>
            </a:lvl3pPr>
            <a:lvl4pPr>
              <a:defRPr sz="1290" b="0">
                <a:solidFill>
                  <a:srgbClr val="172536"/>
                </a:solidFill>
              </a:defRPr>
            </a:lvl4pPr>
            <a:lvl5pPr>
              <a:defRPr sz="1290" b="0">
                <a:solidFill>
                  <a:srgbClr val="172536"/>
                </a:solidFill>
              </a:defRPr>
            </a:lvl5pPr>
            <a:lvl6pPr>
              <a:defRPr sz="1290" b="0">
                <a:solidFill>
                  <a:srgbClr val="172536"/>
                </a:solidFill>
              </a:defRPr>
            </a:lvl6pPr>
            <a:lvl7pPr>
              <a:defRPr sz="1290" b="0">
                <a:solidFill>
                  <a:srgbClr val="172536"/>
                </a:solidFill>
              </a:defRPr>
            </a:lvl7pPr>
            <a:lvl8pPr>
              <a:defRPr sz="1290" b="0">
                <a:solidFill>
                  <a:srgbClr val="172536"/>
                </a:solidFill>
              </a:defRPr>
            </a:lvl8pPr>
            <a:lvl9pPr>
              <a:defRPr sz="129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90" b="0">
                <a:solidFill>
                  <a:srgbClr val="172536"/>
                </a:solidFill>
              </a:defRPr>
            </a:pPr>
            <a:r>
              <a:rPr sz="1290" b="0">
                <a:solidFill>
                  <a:srgbClr val="172536"/>
                </a:solidFill>
              </a:rPr>
              <a:t>•  NULL significa “no hubo coincidencia”: ese producto no se vendió.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C149A-73E0-4369-8773-FE01679D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81450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90" b="0">
                <a:solidFill>
                  <a:srgbClr val="172536"/>
                </a:solidFill>
              </a:defRPr>
            </a:defPPr>
            <a:lvl1pPr>
              <a:defRPr sz="1290" b="0">
                <a:solidFill>
                  <a:srgbClr val="172536"/>
                </a:solidFill>
              </a:defRPr>
            </a:lvl1pPr>
            <a:lvl2pPr>
              <a:defRPr sz="1290" b="0">
                <a:solidFill>
                  <a:srgbClr val="172536"/>
                </a:solidFill>
              </a:defRPr>
            </a:lvl2pPr>
            <a:lvl3pPr>
              <a:defRPr sz="1290" b="0">
                <a:solidFill>
                  <a:srgbClr val="172536"/>
                </a:solidFill>
              </a:defRPr>
            </a:lvl3pPr>
            <a:lvl4pPr>
              <a:defRPr sz="1290" b="0">
                <a:solidFill>
                  <a:srgbClr val="172536"/>
                </a:solidFill>
              </a:defRPr>
            </a:lvl4pPr>
            <a:lvl5pPr>
              <a:defRPr sz="1290" b="0">
                <a:solidFill>
                  <a:srgbClr val="172536"/>
                </a:solidFill>
              </a:defRPr>
            </a:lvl5pPr>
            <a:lvl6pPr>
              <a:defRPr sz="1290" b="0">
                <a:solidFill>
                  <a:srgbClr val="172536"/>
                </a:solidFill>
              </a:defRPr>
            </a:lvl6pPr>
            <a:lvl7pPr>
              <a:defRPr sz="1290" b="0">
                <a:solidFill>
                  <a:srgbClr val="172536"/>
                </a:solidFill>
              </a:defRPr>
            </a:lvl7pPr>
            <a:lvl8pPr>
              <a:defRPr sz="1290" b="0">
                <a:solidFill>
                  <a:srgbClr val="172536"/>
                </a:solidFill>
              </a:defRPr>
            </a:lvl8pPr>
            <a:lvl9pPr>
              <a:defRPr sz="129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90" b="0">
                <a:solidFill>
                  <a:srgbClr val="172536"/>
                </a:solidFill>
              </a:defRPr>
            </a:pPr>
            <a:r>
              <a:rPr sz="1290" b="0">
                <a:solidFill>
                  <a:srgbClr val="172536"/>
                </a:solidFill>
              </a:rPr>
              <a:t>•  Este reporte ayuda a decidir qué productos requieren promoción o revisión de stock.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77A6D-2BF0-4F69-99F9-134D44FC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Respuesta de defensa: INNER JOIN mostraría solo los vendidos; se necesita LEFT JOIN precisamente para descubrir los que faltan.</a:t>
            </a:r>
          </a:p>
        </p:txBody>
      </p:sp>
    </p:spTree>
    <p:extLst>
      <p:ext uri="{BB962C8B-B14F-4D97-AF65-F5344CB8AC3E}">
        <p14:creationId xmlns:p14="http://schemas.microsoft.com/office/powerpoint/2010/main" val="5188829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7B27A-170F-4D6F-86CA-9A563BDB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3E1E4-1A2E-4B7A-B627-415BE3D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B66C4-89CA-4C74-A367-9D35B55B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D2561-3082-46AB-9137-7F0311ED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Pantalla de reportes: cómo leer los 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1E557-3286-409B-A09E-96288D1A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19  |  Material de defensa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1D3B5-0E7C-461C-99FA-7B2F7B5798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23db59a074be0"/>
          <a:stretch xmlns:a="http://schemas.openxmlformats.org/drawingml/2006/main"/>
        </p:blipFill>
        <p:spPr>
          <a:xfrm xmlns:a="http://schemas.openxmlformats.org/drawingml/2006/main">
            <a:off x="554869" y="1638300"/>
            <a:ext cx="6548363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3C0BA-8DF8-4AF5-B701-98EE342B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716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ELEMENTOS QUE SE EXPLICAN AL PRESENTAR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A17E9-8A10-4950-B5B6-A18E527E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05025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52" b="0">
                <a:solidFill>
                  <a:srgbClr val="172536"/>
                </a:solidFill>
              </a:defRPr>
            </a:defPPr>
            <a:lvl1pPr>
              <a:defRPr sz="1252" b="0">
                <a:solidFill>
                  <a:srgbClr val="172536"/>
                </a:solidFill>
              </a:defRPr>
            </a:lvl1pPr>
            <a:lvl2pPr>
              <a:defRPr sz="1252" b="0">
                <a:solidFill>
                  <a:srgbClr val="172536"/>
                </a:solidFill>
              </a:defRPr>
            </a:lvl2pPr>
            <a:lvl3pPr>
              <a:defRPr sz="1252" b="0">
                <a:solidFill>
                  <a:srgbClr val="172536"/>
                </a:solidFill>
              </a:defRPr>
            </a:lvl3pPr>
            <a:lvl4pPr>
              <a:defRPr sz="1252" b="0">
                <a:solidFill>
                  <a:srgbClr val="172536"/>
                </a:solidFill>
              </a:defRPr>
            </a:lvl4pPr>
            <a:lvl5pPr>
              <a:defRPr sz="1252" b="0">
                <a:solidFill>
                  <a:srgbClr val="172536"/>
                </a:solidFill>
              </a:defRPr>
            </a:lvl5pPr>
            <a:lvl6pPr>
              <a:defRPr sz="1252" b="0">
                <a:solidFill>
                  <a:srgbClr val="172536"/>
                </a:solidFill>
              </a:defRPr>
            </a:lvl6pPr>
            <a:lvl7pPr>
              <a:defRPr sz="1252" b="0">
                <a:solidFill>
                  <a:srgbClr val="172536"/>
                </a:solidFill>
              </a:defRPr>
            </a:lvl7pPr>
            <a:lvl8pPr>
              <a:defRPr sz="1252" b="0">
                <a:solidFill>
                  <a:srgbClr val="172536"/>
                </a:solidFill>
              </a:defRPr>
            </a:lvl8pPr>
            <a:lvl9pPr>
              <a:defRPr sz="1252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52" b="0">
                <a:solidFill>
                  <a:srgbClr val="172536"/>
                </a:solidFill>
              </a:defRPr>
            </a:pPr>
            <a:r>
              <a:rPr sz="1252" b="0">
                <a:solidFill>
                  <a:srgbClr val="172536"/>
                </a:solidFill>
              </a:rPr>
              <a:t>•  Desde y Hasta definen el periodo; primero se validan como fechas reales.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5257A-1789-40D5-A6E7-32BF2B91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76525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52" b="0">
                <a:solidFill>
                  <a:srgbClr val="172536"/>
                </a:solidFill>
              </a:defRPr>
            </a:defPPr>
            <a:lvl1pPr>
              <a:defRPr sz="1252" b="0">
                <a:solidFill>
                  <a:srgbClr val="172536"/>
                </a:solidFill>
              </a:defRPr>
            </a:lvl1pPr>
            <a:lvl2pPr>
              <a:defRPr sz="1252" b="0">
                <a:solidFill>
                  <a:srgbClr val="172536"/>
                </a:solidFill>
              </a:defRPr>
            </a:lvl2pPr>
            <a:lvl3pPr>
              <a:defRPr sz="1252" b="0">
                <a:solidFill>
                  <a:srgbClr val="172536"/>
                </a:solidFill>
              </a:defRPr>
            </a:lvl3pPr>
            <a:lvl4pPr>
              <a:defRPr sz="1252" b="0">
                <a:solidFill>
                  <a:srgbClr val="172536"/>
                </a:solidFill>
              </a:defRPr>
            </a:lvl4pPr>
            <a:lvl5pPr>
              <a:defRPr sz="1252" b="0">
                <a:solidFill>
                  <a:srgbClr val="172536"/>
                </a:solidFill>
              </a:defRPr>
            </a:lvl5pPr>
            <a:lvl6pPr>
              <a:defRPr sz="1252" b="0">
                <a:solidFill>
                  <a:srgbClr val="172536"/>
                </a:solidFill>
              </a:defRPr>
            </a:lvl6pPr>
            <a:lvl7pPr>
              <a:defRPr sz="1252" b="0">
                <a:solidFill>
                  <a:srgbClr val="172536"/>
                </a:solidFill>
              </a:defRPr>
            </a:lvl7pPr>
            <a:lvl8pPr>
              <a:defRPr sz="1252" b="0">
                <a:solidFill>
                  <a:srgbClr val="172536"/>
                </a:solidFill>
              </a:defRPr>
            </a:lvl8pPr>
            <a:lvl9pPr>
              <a:defRPr sz="1252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52" b="0">
                <a:solidFill>
                  <a:srgbClr val="172536"/>
                </a:solidFill>
              </a:defRPr>
            </a:pPr>
            <a:r>
              <a:rPr sz="1252" b="0">
                <a:solidFill>
                  <a:srgbClr val="172536"/>
                </a:solidFill>
              </a:rPr>
              <a:t>•  La tabla “Ventas por mes” resume número de ventas e importe.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80F03-F575-4E07-80B7-F451DA2E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48025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52" b="0">
                <a:solidFill>
                  <a:srgbClr val="172536"/>
                </a:solidFill>
              </a:defRPr>
            </a:defPPr>
            <a:lvl1pPr>
              <a:defRPr sz="1252" b="0">
                <a:solidFill>
                  <a:srgbClr val="172536"/>
                </a:solidFill>
              </a:defRPr>
            </a:lvl1pPr>
            <a:lvl2pPr>
              <a:defRPr sz="1252" b="0">
                <a:solidFill>
                  <a:srgbClr val="172536"/>
                </a:solidFill>
              </a:defRPr>
            </a:lvl2pPr>
            <a:lvl3pPr>
              <a:defRPr sz="1252" b="0">
                <a:solidFill>
                  <a:srgbClr val="172536"/>
                </a:solidFill>
              </a:defRPr>
            </a:lvl3pPr>
            <a:lvl4pPr>
              <a:defRPr sz="1252" b="0">
                <a:solidFill>
                  <a:srgbClr val="172536"/>
                </a:solidFill>
              </a:defRPr>
            </a:lvl4pPr>
            <a:lvl5pPr>
              <a:defRPr sz="1252" b="0">
                <a:solidFill>
                  <a:srgbClr val="172536"/>
                </a:solidFill>
              </a:defRPr>
            </a:lvl5pPr>
            <a:lvl6pPr>
              <a:defRPr sz="1252" b="0">
                <a:solidFill>
                  <a:srgbClr val="172536"/>
                </a:solidFill>
              </a:defRPr>
            </a:lvl6pPr>
            <a:lvl7pPr>
              <a:defRPr sz="1252" b="0">
                <a:solidFill>
                  <a:srgbClr val="172536"/>
                </a:solidFill>
              </a:defRPr>
            </a:lvl7pPr>
            <a:lvl8pPr>
              <a:defRPr sz="1252" b="0">
                <a:solidFill>
                  <a:srgbClr val="172536"/>
                </a:solidFill>
              </a:defRPr>
            </a:lvl8pPr>
            <a:lvl9pPr>
              <a:defRPr sz="1252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52" b="0">
                <a:solidFill>
                  <a:srgbClr val="172536"/>
                </a:solidFill>
              </a:defRPr>
            </a:pPr>
            <a:r>
              <a:rPr sz="1252" b="0">
                <a:solidFill>
                  <a:srgbClr val="172536"/>
                </a:solidFill>
              </a:rPr>
              <a:t>•  “Los 5 productos” combina volumen vendido e importe total.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489FE-4118-4CF2-B887-6B6D7218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9525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52" b="0">
                <a:solidFill>
                  <a:srgbClr val="172536"/>
                </a:solidFill>
              </a:defRPr>
            </a:defPPr>
            <a:lvl1pPr>
              <a:defRPr sz="1252" b="0">
                <a:solidFill>
                  <a:srgbClr val="172536"/>
                </a:solidFill>
              </a:defRPr>
            </a:lvl1pPr>
            <a:lvl2pPr>
              <a:defRPr sz="1252" b="0">
                <a:solidFill>
                  <a:srgbClr val="172536"/>
                </a:solidFill>
              </a:defRPr>
            </a:lvl2pPr>
            <a:lvl3pPr>
              <a:defRPr sz="1252" b="0">
                <a:solidFill>
                  <a:srgbClr val="172536"/>
                </a:solidFill>
              </a:defRPr>
            </a:lvl3pPr>
            <a:lvl4pPr>
              <a:defRPr sz="1252" b="0">
                <a:solidFill>
                  <a:srgbClr val="172536"/>
                </a:solidFill>
              </a:defRPr>
            </a:lvl4pPr>
            <a:lvl5pPr>
              <a:defRPr sz="1252" b="0">
                <a:solidFill>
                  <a:srgbClr val="172536"/>
                </a:solidFill>
              </a:defRPr>
            </a:lvl5pPr>
            <a:lvl6pPr>
              <a:defRPr sz="1252" b="0">
                <a:solidFill>
                  <a:srgbClr val="172536"/>
                </a:solidFill>
              </a:defRPr>
            </a:lvl6pPr>
            <a:lvl7pPr>
              <a:defRPr sz="1252" b="0">
                <a:solidFill>
                  <a:srgbClr val="172536"/>
                </a:solidFill>
              </a:defRPr>
            </a:lvl7pPr>
            <a:lvl8pPr>
              <a:defRPr sz="1252" b="0">
                <a:solidFill>
                  <a:srgbClr val="172536"/>
                </a:solidFill>
              </a:defRPr>
            </a:lvl8pPr>
            <a:lvl9pPr>
              <a:defRPr sz="1252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52" b="0">
                <a:solidFill>
                  <a:srgbClr val="172536"/>
                </a:solidFill>
              </a:defRPr>
            </a:pPr>
            <a:r>
              <a:rPr sz="1252" b="0">
                <a:solidFill>
                  <a:srgbClr val="172536"/>
                </a:solidFill>
              </a:rPr>
              <a:t>•  El bloque HAVING muestra socios que alcanzaron el umbral de Bs 3.000.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DD63D-C5D4-4BA9-A256-1F014ED9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91025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52" b="0">
                <a:solidFill>
                  <a:srgbClr val="172536"/>
                </a:solidFill>
              </a:defRPr>
            </a:defPPr>
            <a:lvl1pPr>
              <a:defRPr sz="1252" b="0">
                <a:solidFill>
                  <a:srgbClr val="172536"/>
                </a:solidFill>
              </a:defRPr>
            </a:lvl1pPr>
            <a:lvl2pPr>
              <a:defRPr sz="1252" b="0">
                <a:solidFill>
                  <a:srgbClr val="172536"/>
                </a:solidFill>
              </a:defRPr>
            </a:lvl2pPr>
            <a:lvl3pPr>
              <a:defRPr sz="1252" b="0">
                <a:solidFill>
                  <a:srgbClr val="172536"/>
                </a:solidFill>
              </a:defRPr>
            </a:lvl3pPr>
            <a:lvl4pPr>
              <a:defRPr sz="1252" b="0">
                <a:solidFill>
                  <a:srgbClr val="172536"/>
                </a:solidFill>
              </a:defRPr>
            </a:lvl4pPr>
            <a:lvl5pPr>
              <a:defRPr sz="1252" b="0">
                <a:solidFill>
                  <a:srgbClr val="172536"/>
                </a:solidFill>
              </a:defRPr>
            </a:lvl5pPr>
            <a:lvl6pPr>
              <a:defRPr sz="1252" b="0">
                <a:solidFill>
                  <a:srgbClr val="172536"/>
                </a:solidFill>
              </a:defRPr>
            </a:lvl6pPr>
            <a:lvl7pPr>
              <a:defRPr sz="1252" b="0">
                <a:solidFill>
                  <a:srgbClr val="172536"/>
                </a:solidFill>
              </a:defRPr>
            </a:lvl7pPr>
            <a:lvl8pPr>
              <a:defRPr sz="1252" b="0">
                <a:solidFill>
                  <a:srgbClr val="172536"/>
                </a:solidFill>
              </a:defRPr>
            </a:lvl8pPr>
            <a:lvl9pPr>
              <a:defRPr sz="1252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52" b="0">
                <a:solidFill>
                  <a:srgbClr val="172536"/>
                </a:solidFill>
              </a:defRPr>
            </a:pPr>
            <a:r>
              <a:rPr sz="1252" b="0">
                <a:solidFill>
                  <a:srgbClr val="172536"/>
                </a:solidFill>
              </a:rPr>
              <a:t>•  El enlace CSV descarga el detalle, no una imagen del informe.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E5B89-705E-4D6F-90F8-2A13DCD7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054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1">
                <a:solidFill>
                  <a:srgbClr val="B84F00"/>
                </a:solidFill>
              </a:defRPr>
            </a:defPPr>
            <a:lvl1pPr>
              <a:defRPr sz="1238" b="1">
                <a:solidFill>
                  <a:srgbClr val="B84F00"/>
                </a:solidFill>
              </a:defRPr>
            </a:lvl1pPr>
            <a:lvl2pPr>
              <a:defRPr sz="1238" b="1">
                <a:solidFill>
                  <a:srgbClr val="B84F00"/>
                </a:solidFill>
              </a:defRPr>
            </a:lvl2pPr>
            <a:lvl3pPr>
              <a:defRPr sz="1238" b="1">
                <a:solidFill>
                  <a:srgbClr val="B84F00"/>
                </a:solidFill>
              </a:defRPr>
            </a:lvl3pPr>
            <a:lvl4pPr>
              <a:defRPr sz="1238" b="1">
                <a:solidFill>
                  <a:srgbClr val="B84F00"/>
                </a:solidFill>
              </a:defRPr>
            </a:lvl4pPr>
            <a:lvl5pPr>
              <a:defRPr sz="1238" b="1">
                <a:solidFill>
                  <a:srgbClr val="B84F00"/>
                </a:solidFill>
              </a:defRPr>
            </a:lvl5pPr>
            <a:lvl6pPr>
              <a:defRPr sz="1238" b="1">
                <a:solidFill>
                  <a:srgbClr val="B84F00"/>
                </a:solidFill>
              </a:defRPr>
            </a:lvl6pPr>
            <a:lvl7pPr>
              <a:defRPr sz="1238" b="1">
                <a:solidFill>
                  <a:srgbClr val="B84F00"/>
                </a:solidFill>
              </a:defRPr>
            </a:lvl7pPr>
            <a:lvl8pPr>
              <a:defRPr sz="1238" b="1">
                <a:solidFill>
                  <a:srgbClr val="B84F00"/>
                </a:solidFill>
              </a:defRPr>
            </a:lvl8pPr>
            <a:lvl9pPr>
              <a:defRPr sz="1238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238" b="1">
                <a:solidFill>
                  <a:srgbClr val="B84F00"/>
                </a:solidFill>
              </a:defRPr>
            </a:pPr>
            <a:r>
              <a:rPr sz="1238" b="1">
                <a:solidFill>
                  <a:srgbClr val="B84F00"/>
                </a:solidFill>
              </a:rPr>
              <a:t>Esta vista es administrativa: el operador recibe 403, por lo que no puede acceder ni escribiendo la ruta manualmente.</a:t>
            </a:r>
          </a:p>
        </p:txBody>
      </p:sp>
    </p:spTree>
    <p:extLst>
      <p:ext uri="{BB962C8B-B14F-4D97-AF65-F5344CB8AC3E}">
        <p14:creationId xmlns:p14="http://schemas.microsoft.com/office/powerpoint/2010/main" val="11610736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F9FC2-AB4A-4F4A-ABBF-F30A5208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024B9-B08F-48BD-A4C7-A00C0468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079EB-A846-4F7E-A54A-67F1394D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1D1D2-DFEF-4C64-BBDA-C7EF8455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Exportación CSV: registro detallado y protección frente a fórmulas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E6893-68C8-4BD5-874C-833C2F4E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20  |  Material de defensa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3CACF-2492-4BE7-BEBE-F8B257444D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7c8e651a24e00"/>
          <a:stretch xmlns:a="http://schemas.openxmlformats.org/drawingml/2006/main"/>
        </p:blipFill>
        <p:spPr>
          <a:xfrm xmlns:a="http://schemas.openxmlformats.org/drawingml/2006/main">
            <a:off x="495300" y="1954340"/>
            <a:ext cx="6762750" cy="3568445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32CFD-458E-4081-9208-4A080FF6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QUÉ CONTIENE CADA FILA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78C8F-8283-4A12-B910-DF418E70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28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60" b="0">
                <a:solidFill>
                  <a:srgbClr val="172536"/>
                </a:solidFill>
              </a:defRPr>
            </a:defPPr>
            <a:lvl1pPr>
              <a:defRPr sz="1260" b="0">
                <a:solidFill>
                  <a:srgbClr val="172536"/>
                </a:solidFill>
              </a:defRPr>
            </a:lvl1pPr>
            <a:lvl2pPr>
              <a:defRPr sz="1260" b="0">
                <a:solidFill>
                  <a:srgbClr val="172536"/>
                </a:solidFill>
              </a:defRPr>
            </a:lvl2pPr>
            <a:lvl3pPr>
              <a:defRPr sz="1260" b="0">
                <a:solidFill>
                  <a:srgbClr val="172536"/>
                </a:solidFill>
              </a:defRPr>
            </a:lvl3pPr>
            <a:lvl4pPr>
              <a:defRPr sz="1260" b="0">
                <a:solidFill>
                  <a:srgbClr val="172536"/>
                </a:solidFill>
              </a:defRPr>
            </a:lvl4pPr>
            <a:lvl5pPr>
              <a:defRPr sz="1260" b="0">
                <a:solidFill>
                  <a:srgbClr val="172536"/>
                </a:solidFill>
              </a:defRPr>
            </a:lvl5pPr>
            <a:lvl6pPr>
              <a:defRPr sz="1260" b="0">
                <a:solidFill>
                  <a:srgbClr val="172536"/>
                </a:solidFill>
              </a:defRPr>
            </a:lvl6pPr>
            <a:lvl7pPr>
              <a:defRPr sz="1260" b="0">
                <a:solidFill>
                  <a:srgbClr val="172536"/>
                </a:solidFill>
              </a:defRPr>
            </a:lvl7pPr>
            <a:lvl8pPr>
              <a:defRPr sz="1260" b="0">
                <a:solidFill>
                  <a:srgbClr val="172536"/>
                </a:solidFill>
              </a:defRPr>
            </a:lvl8pPr>
            <a:lvl9pPr>
              <a:defRPr sz="126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60" b="0">
                <a:solidFill>
                  <a:srgbClr val="172536"/>
                </a:solidFill>
              </a:defRPr>
            </a:pPr>
            <a:r>
              <a:rPr sz="1260" b="0">
                <a:solidFill>
                  <a:srgbClr val="172536"/>
                </a:solidFill>
              </a:rPr>
              <a:t>•  Número de venta, fecha, cliente, código y nombre del producto.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C7225-07E2-46DD-AF1D-060DA6CA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328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60" b="0">
                <a:solidFill>
                  <a:srgbClr val="172536"/>
                </a:solidFill>
              </a:defRPr>
            </a:defPPr>
            <a:lvl1pPr>
              <a:defRPr sz="1260" b="0">
                <a:solidFill>
                  <a:srgbClr val="172536"/>
                </a:solidFill>
              </a:defRPr>
            </a:lvl1pPr>
            <a:lvl2pPr>
              <a:defRPr sz="1260" b="0">
                <a:solidFill>
                  <a:srgbClr val="172536"/>
                </a:solidFill>
              </a:defRPr>
            </a:lvl2pPr>
            <a:lvl3pPr>
              <a:defRPr sz="1260" b="0">
                <a:solidFill>
                  <a:srgbClr val="172536"/>
                </a:solidFill>
              </a:defRPr>
            </a:lvl3pPr>
            <a:lvl4pPr>
              <a:defRPr sz="1260" b="0">
                <a:solidFill>
                  <a:srgbClr val="172536"/>
                </a:solidFill>
              </a:defRPr>
            </a:lvl4pPr>
            <a:lvl5pPr>
              <a:defRPr sz="1260" b="0">
                <a:solidFill>
                  <a:srgbClr val="172536"/>
                </a:solidFill>
              </a:defRPr>
            </a:lvl5pPr>
            <a:lvl6pPr>
              <a:defRPr sz="1260" b="0">
                <a:solidFill>
                  <a:srgbClr val="172536"/>
                </a:solidFill>
              </a:defRPr>
            </a:lvl6pPr>
            <a:lvl7pPr>
              <a:defRPr sz="1260" b="0">
                <a:solidFill>
                  <a:srgbClr val="172536"/>
                </a:solidFill>
              </a:defRPr>
            </a:lvl7pPr>
            <a:lvl8pPr>
              <a:defRPr sz="1260" b="0">
                <a:solidFill>
                  <a:srgbClr val="172536"/>
                </a:solidFill>
              </a:defRPr>
            </a:lvl8pPr>
            <a:lvl9pPr>
              <a:defRPr sz="126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60" b="0">
                <a:solidFill>
                  <a:srgbClr val="172536"/>
                </a:solidFill>
              </a:defRPr>
            </a:pPr>
            <a:r>
              <a:rPr sz="1260" b="0">
                <a:solidFill>
                  <a:srgbClr val="172536"/>
                </a:solidFill>
              </a:rPr>
              <a:t>•  Cantidad, precio unitario y subtotal para auditoría o análisis.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0C5F4-F84C-4EA2-AD50-9EB85733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67075"/>
            <a:ext cx="328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60" b="0">
                <a:solidFill>
                  <a:srgbClr val="172536"/>
                </a:solidFill>
              </a:defRPr>
            </a:defPPr>
            <a:lvl1pPr>
              <a:defRPr sz="1260" b="0">
                <a:solidFill>
                  <a:srgbClr val="172536"/>
                </a:solidFill>
              </a:defRPr>
            </a:lvl1pPr>
            <a:lvl2pPr>
              <a:defRPr sz="1260" b="0">
                <a:solidFill>
                  <a:srgbClr val="172536"/>
                </a:solidFill>
              </a:defRPr>
            </a:lvl2pPr>
            <a:lvl3pPr>
              <a:defRPr sz="1260" b="0">
                <a:solidFill>
                  <a:srgbClr val="172536"/>
                </a:solidFill>
              </a:defRPr>
            </a:lvl3pPr>
            <a:lvl4pPr>
              <a:defRPr sz="1260" b="0">
                <a:solidFill>
                  <a:srgbClr val="172536"/>
                </a:solidFill>
              </a:defRPr>
            </a:lvl4pPr>
            <a:lvl5pPr>
              <a:defRPr sz="1260" b="0">
                <a:solidFill>
                  <a:srgbClr val="172536"/>
                </a:solidFill>
              </a:defRPr>
            </a:lvl5pPr>
            <a:lvl6pPr>
              <a:defRPr sz="1260" b="0">
                <a:solidFill>
                  <a:srgbClr val="172536"/>
                </a:solidFill>
              </a:defRPr>
            </a:lvl6pPr>
            <a:lvl7pPr>
              <a:defRPr sz="1260" b="0">
                <a:solidFill>
                  <a:srgbClr val="172536"/>
                </a:solidFill>
              </a:defRPr>
            </a:lvl7pPr>
            <a:lvl8pPr>
              <a:defRPr sz="1260" b="0">
                <a:solidFill>
                  <a:srgbClr val="172536"/>
                </a:solidFill>
              </a:defRPr>
            </a:lvl8pPr>
            <a:lvl9pPr>
              <a:defRPr sz="126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60" b="0">
                <a:solidFill>
                  <a:srgbClr val="172536"/>
                </a:solidFill>
              </a:defRPr>
            </a:pPr>
            <a:r>
              <a:rPr sz="1260" b="0">
                <a:solidFill>
                  <a:srgbClr val="172536"/>
                </a:solidFill>
              </a:rPr>
              <a:t>•  UTF-8 con BOM y separador ; para abrir de forma legible en Excel.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07FED-ED22-4080-A567-7320E3CD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28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60" b="0">
                <a:solidFill>
                  <a:srgbClr val="172536"/>
                </a:solidFill>
              </a:defRPr>
            </a:defPPr>
            <a:lvl1pPr>
              <a:defRPr sz="1260" b="0">
                <a:solidFill>
                  <a:srgbClr val="172536"/>
                </a:solidFill>
              </a:defRPr>
            </a:lvl1pPr>
            <a:lvl2pPr>
              <a:defRPr sz="1260" b="0">
                <a:solidFill>
                  <a:srgbClr val="172536"/>
                </a:solidFill>
              </a:defRPr>
            </a:lvl2pPr>
            <a:lvl3pPr>
              <a:defRPr sz="1260" b="0">
                <a:solidFill>
                  <a:srgbClr val="172536"/>
                </a:solidFill>
              </a:defRPr>
            </a:lvl3pPr>
            <a:lvl4pPr>
              <a:defRPr sz="1260" b="0">
                <a:solidFill>
                  <a:srgbClr val="172536"/>
                </a:solidFill>
              </a:defRPr>
            </a:lvl4pPr>
            <a:lvl5pPr>
              <a:defRPr sz="1260" b="0">
                <a:solidFill>
                  <a:srgbClr val="172536"/>
                </a:solidFill>
              </a:defRPr>
            </a:lvl5pPr>
            <a:lvl6pPr>
              <a:defRPr sz="1260" b="0">
                <a:solidFill>
                  <a:srgbClr val="172536"/>
                </a:solidFill>
              </a:defRPr>
            </a:lvl6pPr>
            <a:lvl7pPr>
              <a:defRPr sz="1260" b="0">
                <a:solidFill>
                  <a:srgbClr val="172536"/>
                </a:solidFill>
              </a:defRPr>
            </a:lvl7pPr>
            <a:lvl8pPr>
              <a:defRPr sz="1260" b="0">
                <a:solidFill>
                  <a:srgbClr val="172536"/>
                </a:solidFill>
              </a:defRPr>
            </a:lvl8pPr>
            <a:lvl9pPr>
              <a:defRPr sz="126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60" b="0">
                <a:solidFill>
                  <a:srgbClr val="172536"/>
                </a:solidFill>
              </a:defRPr>
            </a:pPr>
            <a:r>
              <a:rPr sz="1260" b="0">
                <a:solidFill>
                  <a:srgbClr val="172536"/>
                </a:solidFill>
              </a:rPr>
              <a:t>•  Los textos que inician con =, +, - o @ reciben un apóstrofo antes de exportarse.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F0472-30BC-4440-88DB-F9B40AB0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3286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8BC02-FFEC-45E6-946C-65EC58F6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43475"/>
            <a:ext cx="2943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72536"/>
                </a:solidFill>
              </a:defRPr>
            </a:defPPr>
            <a:lvl1pPr>
              <a:defRPr sz="1050" b="0">
                <a:solidFill>
                  <a:srgbClr val="172536"/>
                </a:solidFill>
              </a:defRPr>
            </a:lvl1pPr>
            <a:lvl2pPr>
              <a:defRPr sz="1050" b="0">
                <a:solidFill>
                  <a:srgbClr val="172536"/>
                </a:solidFill>
              </a:defRPr>
            </a:lvl2pPr>
            <a:lvl3pPr>
              <a:defRPr sz="1050" b="0">
                <a:solidFill>
                  <a:srgbClr val="172536"/>
                </a:solidFill>
              </a:defRPr>
            </a:lvl3pPr>
            <a:lvl4pPr>
              <a:defRPr sz="1050" b="0">
                <a:solidFill>
                  <a:srgbClr val="172536"/>
                </a:solidFill>
              </a:defRPr>
            </a:lvl4pPr>
            <a:lvl5pPr>
              <a:defRPr sz="1050" b="0">
                <a:solidFill>
                  <a:srgbClr val="172536"/>
                </a:solidFill>
              </a:defRPr>
            </a:lvl5pPr>
            <a:lvl6pPr>
              <a:defRPr sz="1050" b="0">
                <a:solidFill>
                  <a:srgbClr val="172536"/>
                </a:solidFill>
              </a:defRPr>
            </a:lvl6pPr>
            <a:lvl7pPr>
              <a:defRPr sz="1050" b="0">
                <a:solidFill>
                  <a:srgbClr val="172536"/>
                </a:solidFill>
              </a:defRPr>
            </a:lvl7pPr>
            <a:lvl8pPr>
              <a:defRPr sz="1050" b="0">
                <a:solidFill>
                  <a:srgbClr val="172536"/>
                </a:solidFill>
              </a:defRPr>
            </a:lvl8pPr>
            <a:lvl9pPr>
              <a:defRPr sz="105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72536"/>
                </a:solidFill>
              </a:defRPr>
            </a:pPr>
            <a:r>
              <a:rPr sz="1050" b="0">
                <a:solidFill>
                  <a:srgbClr val="172536"/>
                </a:solidFill>
              </a:rPr>
              <a:t>celdaSegura($texto):</a:t>
            </a:r>
          </a:p>
          <a:p xmlns:a="http://schemas.openxmlformats.org/drawingml/2006/main">
            <a:pPr>
              <a:defRPr sz="1050" b="0">
                <a:solidFill>
                  <a:srgbClr val="172536"/>
                </a:solidFill>
              </a:defRPr>
            </a:pPr>
            <a:r>
              <a:rPr sz="1050" b="0">
                <a:solidFill>
                  <a:srgbClr val="172536"/>
                </a:solidFill>
              </a:rPr>
              <a:t>si empieza por = + - o @  →  "'" . $texto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72536"/>
                </a:solidFill>
              </a:defRPr>
            </a:pPr>
            <a:r>
              <a:rPr sz="1050" b="0">
                <a:solidFill>
                  <a:srgbClr val="172536"/>
                </a:solidFill>
              </a:rPr>
              <a:t>Evita que Excel ejecute fórmulas inyectadas.</a:t>
            </a:r>
          </a:p>
        </p:txBody>
      </p:sp>
    </p:spTree>
    <p:extLst>
      <p:ext uri="{BB962C8B-B14F-4D97-AF65-F5344CB8AC3E}">
        <p14:creationId xmlns:p14="http://schemas.microsoft.com/office/powerpoint/2010/main" val="13741212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6A579-ACD4-4254-9FE4-68E0DB25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3C8DF-8F41-4144-9792-B3973BB2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41F5D-2BE5-4C81-9D96-5035121F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2B247-E5F6-471F-81F1-505947FC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Evidencia del Laboratorio 11: 15 comprobaciones superadas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08066-858B-49E4-858B-B627926C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21  |  Material de defensa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3C679-4B55-46D9-A7CE-07C4BC4ACB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7224ea2034fa1"/>
          <a:stretch xmlns:a="http://schemas.openxmlformats.org/drawingml/2006/main"/>
        </p:blipFill>
        <p:spPr>
          <a:xfrm xmlns:a="http://schemas.openxmlformats.org/drawingml/2006/main">
            <a:off x="619125" y="1952291"/>
            <a:ext cx="7048500" cy="3677318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E122D-288C-42D2-BB99-443E0C8D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907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B84F00"/>
                </a:solidFill>
              </a:defRPr>
            </a:defPPr>
            <a:lvl1pPr>
              <a:defRPr sz="825" b="1">
                <a:solidFill>
                  <a:srgbClr val="B84F00"/>
                </a:solidFill>
              </a:defRPr>
            </a:lvl1pPr>
            <a:lvl2pPr>
              <a:defRPr sz="825" b="1">
                <a:solidFill>
                  <a:srgbClr val="B84F00"/>
                </a:solidFill>
              </a:defRPr>
            </a:lvl2pPr>
            <a:lvl3pPr>
              <a:defRPr sz="825" b="1">
                <a:solidFill>
                  <a:srgbClr val="B84F00"/>
                </a:solidFill>
              </a:defRPr>
            </a:lvl3pPr>
            <a:lvl4pPr>
              <a:defRPr sz="825" b="1">
                <a:solidFill>
                  <a:srgbClr val="B84F00"/>
                </a:solidFill>
              </a:defRPr>
            </a:lvl4pPr>
            <a:lvl5pPr>
              <a:defRPr sz="825" b="1">
                <a:solidFill>
                  <a:srgbClr val="B84F00"/>
                </a:solidFill>
              </a:defRPr>
            </a:lvl5pPr>
            <a:lvl6pPr>
              <a:defRPr sz="825" b="1">
                <a:solidFill>
                  <a:srgbClr val="B84F00"/>
                </a:solidFill>
              </a:defRPr>
            </a:lvl6pPr>
            <a:lvl7pPr>
              <a:defRPr sz="825" b="1">
                <a:solidFill>
                  <a:srgbClr val="B84F00"/>
                </a:solidFill>
              </a:defRPr>
            </a:lvl7pPr>
            <a:lvl8pPr>
              <a:defRPr sz="825" b="1">
                <a:solidFill>
                  <a:srgbClr val="B84F00"/>
                </a:solidFill>
              </a:defRPr>
            </a:lvl8pPr>
            <a:lvl9pPr>
              <a:defRPr sz="8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84F00"/>
                </a:solidFill>
              </a:defRPr>
            </a:pPr>
            <a:r>
              <a:rPr sz="825" b="1">
                <a:solidFill>
                  <a:srgbClr val="B84F00"/>
                </a:solidFill>
              </a:rPr>
              <a:t>PRUEBAS QUE FUERON EJECUTADAS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EEFF0-B472-4C8A-B9C9-90306858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0">
                <a:solidFill>
                  <a:srgbClr val="172536"/>
                </a:solidFill>
              </a:defRPr>
            </a:defPPr>
            <a:lvl1pPr>
              <a:defRPr sz="1238" b="0">
                <a:solidFill>
                  <a:srgbClr val="172536"/>
                </a:solidFill>
              </a:defRPr>
            </a:lvl1pPr>
            <a:lvl2pPr>
              <a:defRPr sz="1238" b="0">
                <a:solidFill>
                  <a:srgbClr val="172536"/>
                </a:solidFill>
              </a:defRPr>
            </a:lvl2pPr>
            <a:lvl3pPr>
              <a:defRPr sz="1238" b="0">
                <a:solidFill>
                  <a:srgbClr val="172536"/>
                </a:solidFill>
              </a:defRPr>
            </a:lvl3pPr>
            <a:lvl4pPr>
              <a:defRPr sz="1238" b="0">
                <a:solidFill>
                  <a:srgbClr val="172536"/>
                </a:solidFill>
              </a:defRPr>
            </a:lvl4pPr>
            <a:lvl5pPr>
              <a:defRPr sz="1238" b="0">
                <a:solidFill>
                  <a:srgbClr val="172536"/>
                </a:solidFill>
              </a:defRPr>
            </a:lvl5pPr>
            <a:lvl6pPr>
              <a:defRPr sz="1238" b="0">
                <a:solidFill>
                  <a:srgbClr val="172536"/>
                </a:solidFill>
              </a:defRPr>
            </a:lvl6pPr>
            <a:lvl7pPr>
              <a:defRPr sz="1238" b="0">
                <a:solidFill>
                  <a:srgbClr val="172536"/>
                </a:solidFill>
              </a:defRPr>
            </a:lvl7pPr>
            <a:lvl8pPr>
              <a:defRPr sz="1238" b="0">
                <a:solidFill>
                  <a:srgbClr val="172536"/>
                </a:solidFill>
              </a:defRPr>
            </a:lvl8pPr>
            <a:lvl9pPr>
              <a:defRPr sz="123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38" b="0">
                <a:solidFill>
                  <a:srgbClr val="172536"/>
                </a:solidFill>
              </a:defRPr>
            </a:pPr>
            <a:r>
              <a:rPr sz="1238" b="0">
                <a:solidFill>
                  <a:srgbClr val="172536"/>
                </a:solidFill>
              </a:rPr>
              <a:t>•  Esquema de ventas, detalle y acopios con claves foráneas.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57B92-11DD-4BFC-BF88-B099A696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0">
                <a:solidFill>
                  <a:srgbClr val="172536"/>
                </a:solidFill>
              </a:defRPr>
            </a:defPPr>
            <a:lvl1pPr>
              <a:defRPr sz="1238" b="0">
                <a:solidFill>
                  <a:srgbClr val="172536"/>
                </a:solidFill>
              </a:defRPr>
            </a:lvl1pPr>
            <a:lvl2pPr>
              <a:defRPr sz="1238" b="0">
                <a:solidFill>
                  <a:srgbClr val="172536"/>
                </a:solidFill>
              </a:defRPr>
            </a:lvl2pPr>
            <a:lvl3pPr>
              <a:defRPr sz="1238" b="0">
                <a:solidFill>
                  <a:srgbClr val="172536"/>
                </a:solidFill>
              </a:defRPr>
            </a:lvl3pPr>
            <a:lvl4pPr>
              <a:defRPr sz="1238" b="0">
                <a:solidFill>
                  <a:srgbClr val="172536"/>
                </a:solidFill>
              </a:defRPr>
            </a:lvl4pPr>
            <a:lvl5pPr>
              <a:defRPr sz="1238" b="0">
                <a:solidFill>
                  <a:srgbClr val="172536"/>
                </a:solidFill>
              </a:defRPr>
            </a:lvl5pPr>
            <a:lvl6pPr>
              <a:defRPr sz="1238" b="0">
                <a:solidFill>
                  <a:srgbClr val="172536"/>
                </a:solidFill>
              </a:defRPr>
            </a:lvl6pPr>
            <a:lvl7pPr>
              <a:defRPr sz="1238" b="0">
                <a:solidFill>
                  <a:srgbClr val="172536"/>
                </a:solidFill>
              </a:defRPr>
            </a:lvl7pPr>
            <a:lvl8pPr>
              <a:defRPr sz="1238" b="0">
                <a:solidFill>
                  <a:srgbClr val="172536"/>
                </a:solidFill>
              </a:defRPr>
            </a:lvl8pPr>
            <a:lvl9pPr>
              <a:defRPr sz="123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38" b="0">
                <a:solidFill>
                  <a:srgbClr val="172536"/>
                </a:solidFill>
              </a:defRPr>
            </a:pPr>
            <a:r>
              <a:rPr sz="1238" b="0">
                <a:solidFill>
                  <a:srgbClr val="172536"/>
                </a:solidFill>
              </a:rPr>
              <a:t>•  Reportes por mes, top 5, HAVING y productos sin ventas.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23945-9DB2-487F-B357-9F5F65A7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6707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0">
                <a:solidFill>
                  <a:srgbClr val="172536"/>
                </a:solidFill>
              </a:defRPr>
            </a:defPPr>
            <a:lvl1pPr>
              <a:defRPr sz="1238" b="0">
                <a:solidFill>
                  <a:srgbClr val="172536"/>
                </a:solidFill>
              </a:defRPr>
            </a:lvl1pPr>
            <a:lvl2pPr>
              <a:defRPr sz="1238" b="0">
                <a:solidFill>
                  <a:srgbClr val="172536"/>
                </a:solidFill>
              </a:defRPr>
            </a:lvl2pPr>
            <a:lvl3pPr>
              <a:defRPr sz="1238" b="0">
                <a:solidFill>
                  <a:srgbClr val="172536"/>
                </a:solidFill>
              </a:defRPr>
            </a:lvl3pPr>
            <a:lvl4pPr>
              <a:defRPr sz="1238" b="0">
                <a:solidFill>
                  <a:srgbClr val="172536"/>
                </a:solidFill>
              </a:defRPr>
            </a:lvl4pPr>
            <a:lvl5pPr>
              <a:defRPr sz="1238" b="0">
                <a:solidFill>
                  <a:srgbClr val="172536"/>
                </a:solidFill>
              </a:defRPr>
            </a:lvl5pPr>
            <a:lvl6pPr>
              <a:defRPr sz="1238" b="0">
                <a:solidFill>
                  <a:srgbClr val="172536"/>
                </a:solidFill>
              </a:defRPr>
            </a:lvl6pPr>
            <a:lvl7pPr>
              <a:defRPr sz="1238" b="0">
                <a:solidFill>
                  <a:srgbClr val="172536"/>
                </a:solidFill>
              </a:defRPr>
            </a:lvl7pPr>
            <a:lvl8pPr>
              <a:defRPr sz="1238" b="0">
                <a:solidFill>
                  <a:srgbClr val="172536"/>
                </a:solidFill>
              </a:defRPr>
            </a:lvl8pPr>
            <a:lvl9pPr>
              <a:defRPr sz="123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38" b="0">
                <a:solidFill>
                  <a:srgbClr val="172536"/>
                </a:solidFill>
              </a:defRPr>
            </a:pPr>
            <a:r>
              <a:rPr sz="1238" b="0">
                <a:solidFill>
                  <a:srgbClr val="172536"/>
                </a:solidFill>
              </a:rPr>
              <a:t>•  Venta atómica, stock insuficiente y condición de últimas unidades.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AC8EC-1E99-49E4-92A4-65889414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0">
                <a:solidFill>
                  <a:srgbClr val="172536"/>
                </a:solidFill>
              </a:defRPr>
            </a:defPPr>
            <a:lvl1pPr>
              <a:defRPr sz="1238" b="0">
                <a:solidFill>
                  <a:srgbClr val="172536"/>
                </a:solidFill>
              </a:defRPr>
            </a:lvl1pPr>
            <a:lvl2pPr>
              <a:defRPr sz="1238" b="0">
                <a:solidFill>
                  <a:srgbClr val="172536"/>
                </a:solidFill>
              </a:defRPr>
            </a:lvl2pPr>
            <a:lvl3pPr>
              <a:defRPr sz="1238" b="0">
                <a:solidFill>
                  <a:srgbClr val="172536"/>
                </a:solidFill>
              </a:defRPr>
            </a:lvl3pPr>
            <a:lvl4pPr>
              <a:defRPr sz="1238" b="0">
                <a:solidFill>
                  <a:srgbClr val="172536"/>
                </a:solidFill>
              </a:defRPr>
            </a:lvl4pPr>
            <a:lvl5pPr>
              <a:defRPr sz="1238" b="0">
                <a:solidFill>
                  <a:srgbClr val="172536"/>
                </a:solidFill>
              </a:defRPr>
            </a:lvl5pPr>
            <a:lvl6pPr>
              <a:defRPr sz="1238" b="0">
                <a:solidFill>
                  <a:srgbClr val="172536"/>
                </a:solidFill>
              </a:defRPr>
            </a:lvl6pPr>
            <a:lvl7pPr>
              <a:defRPr sz="1238" b="0">
                <a:solidFill>
                  <a:srgbClr val="172536"/>
                </a:solidFill>
              </a:defRPr>
            </a:lvl7pPr>
            <a:lvl8pPr>
              <a:defRPr sz="1238" b="0">
                <a:solidFill>
                  <a:srgbClr val="172536"/>
                </a:solidFill>
              </a:defRPr>
            </a:lvl8pPr>
            <a:lvl9pPr>
              <a:defRPr sz="123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38" b="0">
                <a:solidFill>
                  <a:srgbClr val="172536"/>
                </a:solidFill>
              </a:defRPr>
            </a:pPr>
            <a:r>
              <a:rPr sz="1238" b="0">
                <a:solidFill>
                  <a:srgbClr val="172536"/>
                </a:solidFill>
              </a:rPr>
              <a:t>•  Acopio, CSRF y acceso restringido a reportes.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A51CA-4354-4D1D-BEBF-76509A19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9102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0">
                <a:solidFill>
                  <a:srgbClr val="172536"/>
                </a:solidFill>
              </a:defRPr>
            </a:defPPr>
            <a:lvl1pPr>
              <a:defRPr sz="1238" b="0">
                <a:solidFill>
                  <a:srgbClr val="172536"/>
                </a:solidFill>
              </a:defRPr>
            </a:lvl1pPr>
            <a:lvl2pPr>
              <a:defRPr sz="1238" b="0">
                <a:solidFill>
                  <a:srgbClr val="172536"/>
                </a:solidFill>
              </a:defRPr>
            </a:lvl2pPr>
            <a:lvl3pPr>
              <a:defRPr sz="1238" b="0">
                <a:solidFill>
                  <a:srgbClr val="172536"/>
                </a:solidFill>
              </a:defRPr>
            </a:lvl3pPr>
            <a:lvl4pPr>
              <a:defRPr sz="1238" b="0">
                <a:solidFill>
                  <a:srgbClr val="172536"/>
                </a:solidFill>
              </a:defRPr>
            </a:lvl4pPr>
            <a:lvl5pPr>
              <a:defRPr sz="1238" b="0">
                <a:solidFill>
                  <a:srgbClr val="172536"/>
                </a:solidFill>
              </a:defRPr>
            </a:lvl5pPr>
            <a:lvl6pPr>
              <a:defRPr sz="1238" b="0">
                <a:solidFill>
                  <a:srgbClr val="172536"/>
                </a:solidFill>
              </a:defRPr>
            </a:lvl6pPr>
            <a:lvl7pPr>
              <a:defRPr sz="1238" b="0">
                <a:solidFill>
                  <a:srgbClr val="172536"/>
                </a:solidFill>
              </a:defRPr>
            </a:lvl7pPr>
            <a:lvl8pPr>
              <a:defRPr sz="1238" b="0">
                <a:solidFill>
                  <a:srgbClr val="172536"/>
                </a:solidFill>
              </a:defRPr>
            </a:lvl8pPr>
            <a:lvl9pPr>
              <a:defRPr sz="123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38" b="0">
                <a:solidFill>
                  <a:srgbClr val="172536"/>
                </a:solidFill>
              </a:defRPr>
            </a:pPr>
            <a:r>
              <a:rPr sz="1238" b="0">
                <a:solidFill>
                  <a:srgbClr val="172536"/>
                </a:solidFill>
              </a:rPr>
              <a:t>•  CSV seguro frente a fórmulas y caracteres especiales.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9A300-42B0-498A-9D12-DB5B92A0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1">
                <a:solidFill>
                  <a:srgbClr val="B84F00"/>
                </a:solidFill>
              </a:defRPr>
            </a:defPPr>
            <a:lvl1pPr>
              <a:defRPr sz="1238" b="1">
                <a:solidFill>
                  <a:srgbClr val="B84F00"/>
                </a:solidFill>
              </a:defRPr>
            </a:lvl1pPr>
            <a:lvl2pPr>
              <a:defRPr sz="1238" b="1">
                <a:solidFill>
                  <a:srgbClr val="B84F00"/>
                </a:solidFill>
              </a:defRPr>
            </a:lvl2pPr>
            <a:lvl3pPr>
              <a:defRPr sz="1238" b="1">
                <a:solidFill>
                  <a:srgbClr val="B84F00"/>
                </a:solidFill>
              </a:defRPr>
            </a:lvl3pPr>
            <a:lvl4pPr>
              <a:defRPr sz="1238" b="1">
                <a:solidFill>
                  <a:srgbClr val="B84F00"/>
                </a:solidFill>
              </a:defRPr>
            </a:lvl4pPr>
            <a:lvl5pPr>
              <a:defRPr sz="1238" b="1">
                <a:solidFill>
                  <a:srgbClr val="B84F00"/>
                </a:solidFill>
              </a:defRPr>
            </a:lvl5pPr>
            <a:lvl6pPr>
              <a:defRPr sz="1238" b="1">
                <a:solidFill>
                  <a:srgbClr val="B84F00"/>
                </a:solidFill>
              </a:defRPr>
            </a:lvl6pPr>
            <a:lvl7pPr>
              <a:defRPr sz="1238" b="1">
                <a:solidFill>
                  <a:srgbClr val="B84F00"/>
                </a:solidFill>
              </a:defRPr>
            </a:lvl7pPr>
            <a:lvl8pPr>
              <a:defRPr sz="1238" b="1">
                <a:solidFill>
                  <a:srgbClr val="B84F00"/>
                </a:solidFill>
              </a:defRPr>
            </a:lvl8pPr>
            <a:lvl9pPr>
              <a:defRPr sz="1238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238" b="1">
                <a:solidFill>
                  <a:srgbClr val="B84F00"/>
                </a:solidFill>
              </a:defRPr>
            </a:pPr>
            <a:r>
              <a:rPr sz="1238" b="1">
                <a:solidFill>
                  <a:srgbClr val="B84F00"/>
                </a:solidFill>
              </a:rPr>
              <a:t>La prueba automatizada complementa las capturas: demuestra resultados repetibles sobre reglas importantes del sistema.</a:t>
            </a:r>
          </a:p>
        </p:txBody>
      </p:sp>
    </p:spTree>
    <p:extLst>
      <p:ext uri="{BB962C8B-B14F-4D97-AF65-F5344CB8AC3E}">
        <p14:creationId xmlns:p14="http://schemas.microsoft.com/office/powerpoint/2010/main" val="5454081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C582F-4624-40ED-8987-3BE42CA2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E9371-D914-4190-9107-3A1B5D02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67A3C-FA93-4F48-8629-813953E7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972A4-EDDA-47D8-B6CB-5F5F5A41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Preguntas frecuentes para la defensa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9F98F-8A6D-4D9B-9649-BB705E16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22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051A8-EC85-456A-A8D6-3910066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5191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864D3-AE56-44F9-A08B-350DA756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84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¿Por qué usar consultas preparadas?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6903B-DE8C-49E0-BC27-8B89CFA8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84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Para separar el SQL de los datos enviados y reducir riesgo de inyección.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18968-F5EA-49B7-AA69-5B71FAF1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5191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0DB30-FDDB-4195-A1D3-C0E47698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484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¿Por qué una transacción?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AFDE1-3232-436D-87CA-92C4174B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84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Para que una venta con varias líneas se guarde completa o no se guarde.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A6B73-A0A3-45F7-B902-27A83D0B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5191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BFCAD-A750-4941-A903-6DCCBFDE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84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¿Por qué HAVING?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8CD72-9B36-48A7-979B-4BABBA7A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484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Porque filtra un total calculado con SUM después de agrupar.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38469-A858-4609-BD65-6F4DA54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191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5A230-5F58-44E3-B2BD-F53281C4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484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¿Por qué &lt; al día siguiente?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CE224-9477-47B6-90DA-C4E04138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484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Para incluir todas las horas del último día sin depender de 23:59:59.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C9367-B222-44CA-B4F4-7291CD0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5191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0">
            <a:solidFill>
              <a:srgbClr val="FFF1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535D8-BDB4-48FE-AE9F-C72780DD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484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¿Qué aporta FOR UPDATE?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97930-63E9-42BB-9263-F0D05B44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484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Evita que otro proceso cambie la fila del producto durante un acopio.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A467E-E470-40AD-8901-94711B30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5191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0131D-60C2-4655-99AE-48C46166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484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4F00"/>
                </a:solidFill>
              </a:defRPr>
            </a:defPPr>
            <a:lvl1pPr>
              <a:defRPr sz="1350" b="1">
                <a:solidFill>
                  <a:srgbClr val="B84F00"/>
                </a:solidFill>
              </a:defRPr>
            </a:lvl1pPr>
            <a:lvl2pPr>
              <a:defRPr sz="1350" b="1">
                <a:solidFill>
                  <a:srgbClr val="B84F00"/>
                </a:solidFill>
              </a:defRPr>
            </a:lvl2pPr>
            <a:lvl3pPr>
              <a:defRPr sz="1350" b="1">
                <a:solidFill>
                  <a:srgbClr val="B84F00"/>
                </a:solidFill>
              </a:defRPr>
            </a:lvl3pPr>
            <a:lvl4pPr>
              <a:defRPr sz="1350" b="1">
                <a:solidFill>
                  <a:srgbClr val="B84F00"/>
                </a:solidFill>
              </a:defRPr>
            </a:lvl4pPr>
            <a:lvl5pPr>
              <a:defRPr sz="1350" b="1">
                <a:solidFill>
                  <a:srgbClr val="B84F00"/>
                </a:solidFill>
              </a:defRPr>
            </a:lvl5pPr>
            <a:lvl6pPr>
              <a:defRPr sz="1350" b="1">
                <a:solidFill>
                  <a:srgbClr val="B84F00"/>
                </a:solidFill>
              </a:defRPr>
            </a:lvl6pPr>
            <a:lvl7pPr>
              <a:defRPr sz="1350" b="1">
                <a:solidFill>
                  <a:srgbClr val="B84F00"/>
                </a:solidFill>
              </a:defRPr>
            </a:lvl7pPr>
            <a:lvl8pPr>
              <a:defRPr sz="1350" b="1">
                <a:solidFill>
                  <a:srgbClr val="B84F00"/>
                </a:solidFill>
              </a:defRPr>
            </a:lvl8pPr>
            <a:lvl9pPr>
              <a:defRPr sz="1350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4F00"/>
                </a:solidFill>
              </a:defRPr>
            </a:pPr>
            <a:r>
              <a:rPr sz="1350" b="1">
                <a:solidFill>
                  <a:srgbClr val="B84F00"/>
                </a:solidFill>
              </a:rPr>
              <a:t>¿Por qué proteger CSV?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5B1A0-42B3-428A-BD60-0E4F6D3B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484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536"/>
                </a:solidFill>
              </a:defRPr>
            </a:defPPr>
            <a:lvl1pPr>
              <a:defRPr sz="1200" b="0">
                <a:solidFill>
                  <a:srgbClr val="172536"/>
                </a:solidFill>
              </a:defRPr>
            </a:lvl1pPr>
            <a:lvl2pPr>
              <a:defRPr sz="1200" b="0">
                <a:solidFill>
                  <a:srgbClr val="172536"/>
                </a:solidFill>
              </a:defRPr>
            </a:lvl2pPr>
            <a:lvl3pPr>
              <a:defRPr sz="1200" b="0">
                <a:solidFill>
                  <a:srgbClr val="172536"/>
                </a:solidFill>
              </a:defRPr>
            </a:lvl3pPr>
            <a:lvl4pPr>
              <a:defRPr sz="1200" b="0">
                <a:solidFill>
                  <a:srgbClr val="172536"/>
                </a:solidFill>
              </a:defRPr>
            </a:lvl4pPr>
            <a:lvl5pPr>
              <a:defRPr sz="1200" b="0">
                <a:solidFill>
                  <a:srgbClr val="172536"/>
                </a:solidFill>
              </a:defRPr>
            </a:lvl5pPr>
            <a:lvl6pPr>
              <a:defRPr sz="1200" b="0">
                <a:solidFill>
                  <a:srgbClr val="172536"/>
                </a:solidFill>
              </a:defRPr>
            </a:lvl6pPr>
            <a:lvl7pPr>
              <a:defRPr sz="1200" b="0">
                <a:solidFill>
                  <a:srgbClr val="172536"/>
                </a:solidFill>
              </a:defRPr>
            </a:lvl7pPr>
            <a:lvl8pPr>
              <a:defRPr sz="1200" b="0">
                <a:solidFill>
                  <a:srgbClr val="172536"/>
                </a:solidFill>
              </a:defRPr>
            </a:lvl8pPr>
            <a:lvl9pPr>
              <a:defRPr sz="1200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536"/>
                </a:solidFill>
              </a:defRPr>
            </a:pPr>
            <a:r>
              <a:rPr sz="1200" b="0">
                <a:solidFill>
                  <a:srgbClr val="172536"/>
                </a:solidFill>
              </a:rPr>
              <a:t>Excel interpreta ciertos prefijos como fórmulas; se neutralizan antes de exportar.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808E4-F62F-4F08-8C2F-7F8E744F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84F00"/>
                </a:solidFill>
              </a:defRPr>
            </a:defPPr>
            <a:lvl1pPr>
              <a:defRPr sz="1275" b="1">
                <a:solidFill>
                  <a:srgbClr val="B84F00"/>
                </a:solidFill>
              </a:defRPr>
            </a:lvl1pPr>
            <a:lvl2pPr>
              <a:defRPr sz="1275" b="1">
                <a:solidFill>
                  <a:srgbClr val="B84F00"/>
                </a:solidFill>
              </a:defRPr>
            </a:lvl2pPr>
            <a:lvl3pPr>
              <a:defRPr sz="1275" b="1">
                <a:solidFill>
                  <a:srgbClr val="B84F00"/>
                </a:solidFill>
              </a:defRPr>
            </a:lvl3pPr>
            <a:lvl4pPr>
              <a:defRPr sz="1275" b="1">
                <a:solidFill>
                  <a:srgbClr val="B84F00"/>
                </a:solidFill>
              </a:defRPr>
            </a:lvl4pPr>
            <a:lvl5pPr>
              <a:defRPr sz="1275" b="1">
                <a:solidFill>
                  <a:srgbClr val="B84F00"/>
                </a:solidFill>
              </a:defRPr>
            </a:lvl5pPr>
            <a:lvl6pPr>
              <a:defRPr sz="1275" b="1">
                <a:solidFill>
                  <a:srgbClr val="B84F00"/>
                </a:solidFill>
              </a:defRPr>
            </a:lvl6pPr>
            <a:lvl7pPr>
              <a:defRPr sz="1275" b="1">
                <a:solidFill>
                  <a:srgbClr val="B84F00"/>
                </a:solidFill>
              </a:defRPr>
            </a:lvl7pPr>
            <a:lvl8pPr>
              <a:defRPr sz="1275" b="1">
                <a:solidFill>
                  <a:srgbClr val="B84F00"/>
                </a:solidFill>
              </a:defRPr>
            </a:lvl8pPr>
            <a:lvl9pPr>
              <a:defRPr sz="127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84F00"/>
                </a:solidFill>
              </a:defRPr>
            </a:pPr>
            <a:r>
              <a:rPr sz="1275" b="1">
                <a:solidFill>
                  <a:srgbClr val="B84F00"/>
                </a:solidFill>
              </a:rPr>
              <a:t>Consejo: explica primero la necesidad de negocio y luego el mecanismo técnico. Así demuestras comprensión, no solo memorización.</a:t>
            </a:r>
          </a:p>
        </p:txBody>
      </p:sp>
    </p:spTree>
    <p:extLst>
      <p:ext uri="{BB962C8B-B14F-4D97-AF65-F5344CB8AC3E}">
        <p14:creationId xmlns:p14="http://schemas.microsoft.com/office/powerpoint/2010/main" val="9744746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B2A52-5119-448E-8545-A9D6F0F9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F00"/>
          </a:solidFill>
          <a:ln xmlns:a="http://schemas.openxmlformats.org/drawingml/2006/main" w="0">
            <a:solidFill>
              <a:srgbClr val="B84F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6878B-2BA2-4D59-86D9-E04FDE5E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APICULTORES FLOR DE LA CHIQUITANÍA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B3037-FD37-488C-AD92-2BFACF77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BE8AA"/>
                </a:solidFill>
              </a:defRPr>
            </a:defPPr>
            <a:lvl1pPr>
              <a:defRPr sz="825" b="1">
                <a:solidFill>
                  <a:srgbClr val="FBE8AA"/>
                </a:solidFill>
              </a:defRPr>
            </a:lvl1pPr>
            <a:lvl2pPr>
              <a:defRPr sz="825" b="1">
                <a:solidFill>
                  <a:srgbClr val="FBE8AA"/>
                </a:solidFill>
              </a:defRPr>
            </a:lvl2pPr>
            <a:lvl3pPr>
              <a:defRPr sz="825" b="1">
                <a:solidFill>
                  <a:srgbClr val="FBE8AA"/>
                </a:solidFill>
              </a:defRPr>
            </a:lvl3pPr>
            <a:lvl4pPr>
              <a:defRPr sz="825" b="1">
                <a:solidFill>
                  <a:srgbClr val="FBE8AA"/>
                </a:solidFill>
              </a:defRPr>
            </a:lvl4pPr>
            <a:lvl5pPr>
              <a:defRPr sz="825" b="1">
                <a:solidFill>
                  <a:srgbClr val="FBE8AA"/>
                </a:solidFill>
              </a:defRPr>
            </a:lvl5pPr>
            <a:lvl6pPr>
              <a:defRPr sz="825" b="1">
                <a:solidFill>
                  <a:srgbClr val="FBE8AA"/>
                </a:solidFill>
              </a:defRPr>
            </a:lvl6pPr>
            <a:lvl7pPr>
              <a:defRPr sz="825" b="1">
                <a:solidFill>
                  <a:srgbClr val="FBE8AA"/>
                </a:solidFill>
              </a:defRPr>
            </a:lvl7pPr>
            <a:lvl8pPr>
              <a:defRPr sz="825" b="1">
                <a:solidFill>
                  <a:srgbClr val="FBE8AA"/>
                </a:solidFill>
              </a:defRPr>
            </a:lvl8pPr>
            <a:lvl9pPr>
              <a:defRPr sz="825" b="1">
                <a:solidFill>
                  <a:srgbClr val="FBE8A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BE8AA"/>
                </a:solidFill>
              </a:defRPr>
            </a:pPr>
            <a:r>
              <a:rPr sz="825" b="1">
                <a:solidFill>
                  <a:srgbClr val="FBE8AA"/>
                </a:solidFill>
              </a:rPr>
              <a:t>ACTIVIDAD 3 · LABORATORIOS 10 Y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67AB4-73C3-4A5F-BAD1-478AF1A7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536"/>
                </a:solidFill>
              </a:defRPr>
            </a:defPPr>
            <a:lvl1pPr>
              <a:defRPr sz="2325" b="1">
                <a:solidFill>
                  <a:srgbClr val="172536"/>
                </a:solidFill>
              </a:defRPr>
            </a:lvl1pPr>
            <a:lvl2pPr>
              <a:defRPr sz="2325" b="1">
                <a:solidFill>
                  <a:srgbClr val="172536"/>
                </a:solidFill>
              </a:defRPr>
            </a:lvl2pPr>
            <a:lvl3pPr>
              <a:defRPr sz="2325" b="1">
                <a:solidFill>
                  <a:srgbClr val="172536"/>
                </a:solidFill>
              </a:defRPr>
            </a:lvl3pPr>
            <a:lvl4pPr>
              <a:defRPr sz="2325" b="1">
                <a:solidFill>
                  <a:srgbClr val="172536"/>
                </a:solidFill>
              </a:defRPr>
            </a:lvl4pPr>
            <a:lvl5pPr>
              <a:defRPr sz="2325" b="1">
                <a:solidFill>
                  <a:srgbClr val="172536"/>
                </a:solidFill>
              </a:defRPr>
            </a:lvl5pPr>
            <a:lvl6pPr>
              <a:defRPr sz="2325" b="1">
                <a:solidFill>
                  <a:srgbClr val="172536"/>
                </a:solidFill>
              </a:defRPr>
            </a:lvl6pPr>
            <a:lvl7pPr>
              <a:defRPr sz="2325" b="1">
                <a:solidFill>
                  <a:srgbClr val="172536"/>
                </a:solidFill>
              </a:defRPr>
            </a:lvl7pPr>
            <a:lvl8pPr>
              <a:defRPr sz="2325" b="1">
                <a:solidFill>
                  <a:srgbClr val="172536"/>
                </a:solidFill>
              </a:defRPr>
            </a:lvl8pPr>
            <a:lvl9pPr>
              <a:defRPr sz="2325" b="1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536"/>
                </a:solidFill>
              </a:defRPr>
            </a:pPr>
            <a:r>
              <a:rPr sz="2325" b="1">
                <a:solidFill>
                  <a:srgbClr val="172536"/>
                </a:solidFill>
              </a:rPr>
              <a:t>Cierre: qué evidencia que la actividad está completa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815EA-1871-4196-80A2-9DB149A7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6670"/>
                </a:solidFill>
              </a:defRPr>
            </a:defPPr>
            <a:lvl1pPr>
              <a:defRPr sz="825" b="0">
                <a:solidFill>
                  <a:srgbClr val="5C6670"/>
                </a:solidFill>
              </a:defRPr>
            </a:lvl1pPr>
            <a:lvl2pPr>
              <a:defRPr sz="825" b="0">
                <a:solidFill>
                  <a:srgbClr val="5C6670"/>
                </a:solidFill>
              </a:defRPr>
            </a:lvl2pPr>
            <a:lvl3pPr>
              <a:defRPr sz="825" b="0">
                <a:solidFill>
                  <a:srgbClr val="5C6670"/>
                </a:solidFill>
              </a:defRPr>
            </a:lvl3pPr>
            <a:lvl4pPr>
              <a:defRPr sz="825" b="0">
                <a:solidFill>
                  <a:srgbClr val="5C6670"/>
                </a:solidFill>
              </a:defRPr>
            </a:lvl4pPr>
            <a:lvl5pPr>
              <a:defRPr sz="825" b="0">
                <a:solidFill>
                  <a:srgbClr val="5C6670"/>
                </a:solidFill>
              </a:defRPr>
            </a:lvl5pPr>
            <a:lvl6pPr>
              <a:defRPr sz="825" b="0">
                <a:solidFill>
                  <a:srgbClr val="5C6670"/>
                </a:solidFill>
              </a:defRPr>
            </a:lvl6pPr>
            <a:lvl7pPr>
              <a:defRPr sz="825" b="0">
                <a:solidFill>
                  <a:srgbClr val="5C6670"/>
                </a:solidFill>
              </a:defRPr>
            </a:lvl7pPr>
            <a:lvl8pPr>
              <a:defRPr sz="825" b="0">
                <a:solidFill>
                  <a:srgbClr val="5C6670"/>
                </a:solidFill>
              </a:defRPr>
            </a:lvl8pPr>
            <a:lvl9pPr>
              <a:defRPr sz="8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6670"/>
                </a:solidFill>
              </a:defRPr>
            </a:pPr>
            <a:r>
              <a:rPr sz="825" b="0">
                <a:solidFill>
                  <a:srgbClr val="5C6670"/>
                </a:solidFill>
              </a:rPr>
              <a:t>23  |  Material de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3FB14-DDAB-4AEB-965E-118A67F5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84F00"/>
                </a:solidFill>
              </a:defRPr>
            </a:defPPr>
            <a:lvl1pPr>
              <a:defRPr sz="2025" b="1">
                <a:solidFill>
                  <a:srgbClr val="B84F00"/>
                </a:solidFill>
              </a:defRPr>
            </a:lvl1pPr>
            <a:lvl2pPr>
              <a:defRPr sz="2025" b="1">
                <a:solidFill>
                  <a:srgbClr val="B84F00"/>
                </a:solidFill>
              </a:defRPr>
            </a:lvl2pPr>
            <a:lvl3pPr>
              <a:defRPr sz="2025" b="1">
                <a:solidFill>
                  <a:srgbClr val="B84F00"/>
                </a:solidFill>
              </a:defRPr>
            </a:lvl3pPr>
            <a:lvl4pPr>
              <a:defRPr sz="2025" b="1">
                <a:solidFill>
                  <a:srgbClr val="B84F00"/>
                </a:solidFill>
              </a:defRPr>
            </a:lvl4pPr>
            <a:lvl5pPr>
              <a:defRPr sz="2025" b="1">
                <a:solidFill>
                  <a:srgbClr val="B84F00"/>
                </a:solidFill>
              </a:defRPr>
            </a:lvl5pPr>
            <a:lvl6pPr>
              <a:defRPr sz="2025" b="1">
                <a:solidFill>
                  <a:srgbClr val="B84F00"/>
                </a:solidFill>
              </a:defRPr>
            </a:lvl6pPr>
            <a:lvl7pPr>
              <a:defRPr sz="2025" b="1">
                <a:solidFill>
                  <a:srgbClr val="B84F00"/>
                </a:solidFill>
              </a:defRPr>
            </a:lvl7pPr>
            <a:lvl8pPr>
              <a:defRPr sz="2025" b="1">
                <a:solidFill>
                  <a:srgbClr val="B84F00"/>
                </a:solidFill>
              </a:defRPr>
            </a:lvl8pPr>
            <a:lvl9pPr>
              <a:defRPr sz="2025" b="1">
                <a:solidFill>
                  <a:srgbClr val="B84F0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84F00"/>
                </a:solidFill>
              </a:defRPr>
            </a:pPr>
            <a:r>
              <a:rPr sz="2025" b="1">
                <a:solidFill>
                  <a:srgbClr val="B84F00"/>
                </a:solidFill>
              </a:rPr>
              <a:t>La aplicación integra seguridad, control de acceso, inventario consistente y análisis de ventas sobre MySQL.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C31FD-00C8-41A5-927D-D381199E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904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172536"/>
                </a:solidFill>
              </a:defRPr>
            </a:defPPr>
            <a:lvl1pPr>
              <a:defRPr sz="1388" b="0">
                <a:solidFill>
                  <a:srgbClr val="172536"/>
                </a:solidFill>
              </a:defRPr>
            </a:lvl1pPr>
            <a:lvl2pPr>
              <a:defRPr sz="1388" b="0">
                <a:solidFill>
                  <a:srgbClr val="172536"/>
                </a:solidFill>
              </a:defRPr>
            </a:lvl2pPr>
            <a:lvl3pPr>
              <a:defRPr sz="1388" b="0">
                <a:solidFill>
                  <a:srgbClr val="172536"/>
                </a:solidFill>
              </a:defRPr>
            </a:lvl3pPr>
            <a:lvl4pPr>
              <a:defRPr sz="1388" b="0">
                <a:solidFill>
                  <a:srgbClr val="172536"/>
                </a:solidFill>
              </a:defRPr>
            </a:lvl4pPr>
            <a:lvl5pPr>
              <a:defRPr sz="1388" b="0">
                <a:solidFill>
                  <a:srgbClr val="172536"/>
                </a:solidFill>
              </a:defRPr>
            </a:lvl5pPr>
            <a:lvl6pPr>
              <a:defRPr sz="1388" b="0">
                <a:solidFill>
                  <a:srgbClr val="172536"/>
                </a:solidFill>
              </a:defRPr>
            </a:lvl6pPr>
            <a:lvl7pPr>
              <a:defRPr sz="1388" b="0">
                <a:solidFill>
                  <a:srgbClr val="172536"/>
                </a:solidFill>
              </a:defRPr>
            </a:lvl7pPr>
            <a:lvl8pPr>
              <a:defRPr sz="1388" b="0">
                <a:solidFill>
                  <a:srgbClr val="172536"/>
                </a:solidFill>
              </a:defRPr>
            </a:lvl8pPr>
            <a:lvl9pPr>
              <a:defRPr sz="138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172536"/>
                </a:solidFill>
              </a:defRPr>
            </a:pPr>
            <a:r>
              <a:rPr sz="1388" b="0">
                <a:solidFill>
                  <a:srgbClr val="172536"/>
                </a:solidFill>
              </a:rPr>
              <a:t>•  Los usuarios se autentican con contraseñas protegidas y sesiones controladas.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89A5D-55B0-462F-BFC7-DBE9D1AF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904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172536"/>
                </a:solidFill>
              </a:defRPr>
            </a:defPPr>
            <a:lvl1pPr>
              <a:defRPr sz="1388" b="0">
                <a:solidFill>
                  <a:srgbClr val="172536"/>
                </a:solidFill>
              </a:defRPr>
            </a:lvl1pPr>
            <a:lvl2pPr>
              <a:defRPr sz="1388" b="0">
                <a:solidFill>
                  <a:srgbClr val="172536"/>
                </a:solidFill>
              </a:defRPr>
            </a:lvl2pPr>
            <a:lvl3pPr>
              <a:defRPr sz="1388" b="0">
                <a:solidFill>
                  <a:srgbClr val="172536"/>
                </a:solidFill>
              </a:defRPr>
            </a:lvl3pPr>
            <a:lvl4pPr>
              <a:defRPr sz="1388" b="0">
                <a:solidFill>
                  <a:srgbClr val="172536"/>
                </a:solidFill>
              </a:defRPr>
            </a:lvl4pPr>
            <a:lvl5pPr>
              <a:defRPr sz="1388" b="0">
                <a:solidFill>
                  <a:srgbClr val="172536"/>
                </a:solidFill>
              </a:defRPr>
            </a:lvl5pPr>
            <a:lvl6pPr>
              <a:defRPr sz="1388" b="0">
                <a:solidFill>
                  <a:srgbClr val="172536"/>
                </a:solidFill>
              </a:defRPr>
            </a:lvl6pPr>
            <a:lvl7pPr>
              <a:defRPr sz="1388" b="0">
                <a:solidFill>
                  <a:srgbClr val="172536"/>
                </a:solidFill>
              </a:defRPr>
            </a:lvl7pPr>
            <a:lvl8pPr>
              <a:defRPr sz="1388" b="0">
                <a:solidFill>
                  <a:srgbClr val="172536"/>
                </a:solidFill>
              </a:defRPr>
            </a:lvl8pPr>
            <a:lvl9pPr>
              <a:defRPr sz="138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172536"/>
                </a:solidFill>
              </a:defRPr>
            </a:pPr>
            <a:r>
              <a:rPr sz="1388" b="0">
                <a:solidFill>
                  <a:srgbClr val="172536"/>
                </a:solidFill>
              </a:rPr>
              <a:t>•  Los roles limitan las acciones y bloquean rutas no autorizadas en el servidor.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507E2-97F8-4749-8C53-BB8B9E6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04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172536"/>
                </a:solidFill>
              </a:defRPr>
            </a:defPPr>
            <a:lvl1pPr>
              <a:defRPr sz="1388" b="0">
                <a:solidFill>
                  <a:srgbClr val="172536"/>
                </a:solidFill>
              </a:defRPr>
            </a:lvl1pPr>
            <a:lvl2pPr>
              <a:defRPr sz="1388" b="0">
                <a:solidFill>
                  <a:srgbClr val="172536"/>
                </a:solidFill>
              </a:defRPr>
            </a:lvl2pPr>
            <a:lvl3pPr>
              <a:defRPr sz="1388" b="0">
                <a:solidFill>
                  <a:srgbClr val="172536"/>
                </a:solidFill>
              </a:defRPr>
            </a:lvl3pPr>
            <a:lvl4pPr>
              <a:defRPr sz="1388" b="0">
                <a:solidFill>
                  <a:srgbClr val="172536"/>
                </a:solidFill>
              </a:defRPr>
            </a:lvl4pPr>
            <a:lvl5pPr>
              <a:defRPr sz="1388" b="0">
                <a:solidFill>
                  <a:srgbClr val="172536"/>
                </a:solidFill>
              </a:defRPr>
            </a:lvl5pPr>
            <a:lvl6pPr>
              <a:defRPr sz="1388" b="0">
                <a:solidFill>
                  <a:srgbClr val="172536"/>
                </a:solidFill>
              </a:defRPr>
            </a:lvl6pPr>
            <a:lvl7pPr>
              <a:defRPr sz="1388" b="0">
                <a:solidFill>
                  <a:srgbClr val="172536"/>
                </a:solidFill>
              </a:defRPr>
            </a:lvl7pPr>
            <a:lvl8pPr>
              <a:defRPr sz="1388" b="0">
                <a:solidFill>
                  <a:srgbClr val="172536"/>
                </a:solidFill>
              </a:defRPr>
            </a:lvl8pPr>
            <a:lvl9pPr>
              <a:defRPr sz="138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172536"/>
                </a:solidFill>
              </a:defRPr>
            </a:pPr>
            <a:r>
              <a:rPr sz="1388" b="0">
                <a:solidFill>
                  <a:srgbClr val="172536"/>
                </a:solidFill>
              </a:rPr>
              <a:t>•  Ventas y acopios usan transacciones, validación y control de stock.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22388-B431-4422-B036-2A30B95E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43375"/>
            <a:ext cx="904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172536"/>
                </a:solidFill>
              </a:defRPr>
            </a:defPPr>
            <a:lvl1pPr>
              <a:defRPr sz="1388" b="0">
                <a:solidFill>
                  <a:srgbClr val="172536"/>
                </a:solidFill>
              </a:defRPr>
            </a:lvl1pPr>
            <a:lvl2pPr>
              <a:defRPr sz="1388" b="0">
                <a:solidFill>
                  <a:srgbClr val="172536"/>
                </a:solidFill>
              </a:defRPr>
            </a:lvl2pPr>
            <a:lvl3pPr>
              <a:defRPr sz="1388" b="0">
                <a:solidFill>
                  <a:srgbClr val="172536"/>
                </a:solidFill>
              </a:defRPr>
            </a:lvl3pPr>
            <a:lvl4pPr>
              <a:defRPr sz="1388" b="0">
                <a:solidFill>
                  <a:srgbClr val="172536"/>
                </a:solidFill>
              </a:defRPr>
            </a:lvl4pPr>
            <a:lvl5pPr>
              <a:defRPr sz="1388" b="0">
                <a:solidFill>
                  <a:srgbClr val="172536"/>
                </a:solidFill>
              </a:defRPr>
            </a:lvl5pPr>
            <a:lvl6pPr>
              <a:defRPr sz="1388" b="0">
                <a:solidFill>
                  <a:srgbClr val="172536"/>
                </a:solidFill>
              </a:defRPr>
            </a:lvl6pPr>
            <a:lvl7pPr>
              <a:defRPr sz="1388" b="0">
                <a:solidFill>
                  <a:srgbClr val="172536"/>
                </a:solidFill>
              </a:defRPr>
            </a:lvl7pPr>
            <a:lvl8pPr>
              <a:defRPr sz="1388" b="0">
                <a:solidFill>
                  <a:srgbClr val="172536"/>
                </a:solidFill>
              </a:defRPr>
            </a:lvl8pPr>
            <a:lvl9pPr>
              <a:defRPr sz="138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172536"/>
                </a:solidFill>
              </a:defRPr>
            </a:pPr>
            <a:r>
              <a:rPr sz="1388" b="0">
                <a:solidFill>
                  <a:srgbClr val="172536"/>
                </a:solidFill>
              </a:rPr>
              <a:t>•  Los reportes usan SQL con JOIN, GROUP BY, HAVING, LEFT JOIN y parámetros preparados.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EA8C2-2E2B-467F-99FE-EE13948D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04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172536"/>
                </a:solidFill>
              </a:defRPr>
            </a:defPPr>
            <a:lvl1pPr>
              <a:defRPr sz="1388" b="0">
                <a:solidFill>
                  <a:srgbClr val="172536"/>
                </a:solidFill>
              </a:defRPr>
            </a:lvl1pPr>
            <a:lvl2pPr>
              <a:defRPr sz="1388" b="0">
                <a:solidFill>
                  <a:srgbClr val="172536"/>
                </a:solidFill>
              </a:defRPr>
            </a:lvl2pPr>
            <a:lvl3pPr>
              <a:defRPr sz="1388" b="0">
                <a:solidFill>
                  <a:srgbClr val="172536"/>
                </a:solidFill>
              </a:defRPr>
            </a:lvl3pPr>
            <a:lvl4pPr>
              <a:defRPr sz="1388" b="0">
                <a:solidFill>
                  <a:srgbClr val="172536"/>
                </a:solidFill>
              </a:defRPr>
            </a:lvl4pPr>
            <a:lvl5pPr>
              <a:defRPr sz="1388" b="0">
                <a:solidFill>
                  <a:srgbClr val="172536"/>
                </a:solidFill>
              </a:defRPr>
            </a:lvl5pPr>
            <a:lvl6pPr>
              <a:defRPr sz="1388" b="0">
                <a:solidFill>
                  <a:srgbClr val="172536"/>
                </a:solidFill>
              </a:defRPr>
            </a:lvl6pPr>
            <a:lvl7pPr>
              <a:defRPr sz="1388" b="0">
                <a:solidFill>
                  <a:srgbClr val="172536"/>
                </a:solidFill>
              </a:defRPr>
            </a:lvl7pPr>
            <a:lvl8pPr>
              <a:defRPr sz="1388" b="0">
                <a:solidFill>
                  <a:srgbClr val="172536"/>
                </a:solidFill>
              </a:defRPr>
            </a:lvl8pPr>
            <a:lvl9pPr>
              <a:defRPr sz="138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172536"/>
                </a:solidFill>
              </a:defRPr>
            </a:pPr>
            <a:r>
              <a:rPr sz="1388" b="0">
                <a:solidFill>
                  <a:srgbClr val="172536"/>
                </a:solidFill>
              </a:rPr>
              <a:t>•  El CSV preserva el detalle de ventas y neutraliza fórmulas peligrosas.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547D5-D513-4B64-86EA-FACA9252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04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172536"/>
                </a:solidFill>
              </a:defRPr>
            </a:defPPr>
            <a:lvl1pPr>
              <a:defRPr sz="1388" b="0">
                <a:solidFill>
                  <a:srgbClr val="172536"/>
                </a:solidFill>
              </a:defRPr>
            </a:lvl1pPr>
            <a:lvl2pPr>
              <a:defRPr sz="1388" b="0">
                <a:solidFill>
                  <a:srgbClr val="172536"/>
                </a:solidFill>
              </a:defRPr>
            </a:lvl2pPr>
            <a:lvl3pPr>
              <a:defRPr sz="1388" b="0">
                <a:solidFill>
                  <a:srgbClr val="172536"/>
                </a:solidFill>
              </a:defRPr>
            </a:lvl3pPr>
            <a:lvl4pPr>
              <a:defRPr sz="1388" b="0">
                <a:solidFill>
                  <a:srgbClr val="172536"/>
                </a:solidFill>
              </a:defRPr>
            </a:lvl4pPr>
            <a:lvl5pPr>
              <a:defRPr sz="1388" b="0">
                <a:solidFill>
                  <a:srgbClr val="172536"/>
                </a:solidFill>
              </a:defRPr>
            </a:lvl5pPr>
            <a:lvl6pPr>
              <a:defRPr sz="1388" b="0">
                <a:solidFill>
                  <a:srgbClr val="172536"/>
                </a:solidFill>
              </a:defRPr>
            </a:lvl6pPr>
            <a:lvl7pPr>
              <a:defRPr sz="1388" b="0">
                <a:solidFill>
                  <a:srgbClr val="172536"/>
                </a:solidFill>
              </a:defRPr>
            </a:lvl7pPr>
            <a:lvl8pPr>
              <a:defRPr sz="1388" b="0">
                <a:solidFill>
                  <a:srgbClr val="172536"/>
                </a:solidFill>
              </a:defRPr>
            </a:lvl8pPr>
            <a:lvl9pPr>
              <a:defRPr sz="1388" b="0">
                <a:solidFill>
                  <a:srgbClr val="172536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172536"/>
                </a:solidFill>
              </a:defRPr>
            </a:pPr>
            <a:r>
              <a:rPr sz="1388" b="0">
                <a:solidFill>
                  <a:srgbClr val="172536"/>
                </a:solidFill>
              </a:rPr>
              <a:t>•  Los verificadores confirman 15 de 15 requisitos en los Laboratorios 10 y 11.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B3E77-07F8-4CCF-BFE9-DC6579E2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293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78"/>
          </a:solidFill>
          <a:ln xmlns:a="http://schemas.openxmlformats.org/drawingml/2006/main" w="0">
            <a:solidFill>
              <a:srgbClr val="E9C7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443B9-C203-4C6E-9596-AC79B2D4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C6670"/>
                </a:solidFill>
              </a:defRPr>
            </a:defPPr>
            <a:lvl1pPr>
              <a:defRPr sz="1125" b="0">
                <a:solidFill>
                  <a:srgbClr val="5C6670"/>
                </a:solidFill>
              </a:defRPr>
            </a:lvl1pPr>
            <a:lvl2pPr>
              <a:defRPr sz="1125" b="0">
                <a:solidFill>
                  <a:srgbClr val="5C6670"/>
                </a:solidFill>
              </a:defRPr>
            </a:lvl2pPr>
            <a:lvl3pPr>
              <a:defRPr sz="1125" b="0">
                <a:solidFill>
                  <a:srgbClr val="5C6670"/>
                </a:solidFill>
              </a:defRPr>
            </a:lvl3pPr>
            <a:lvl4pPr>
              <a:defRPr sz="1125" b="0">
                <a:solidFill>
                  <a:srgbClr val="5C6670"/>
                </a:solidFill>
              </a:defRPr>
            </a:lvl4pPr>
            <a:lvl5pPr>
              <a:defRPr sz="1125" b="0">
                <a:solidFill>
                  <a:srgbClr val="5C6670"/>
                </a:solidFill>
              </a:defRPr>
            </a:lvl5pPr>
            <a:lvl6pPr>
              <a:defRPr sz="1125" b="0">
                <a:solidFill>
                  <a:srgbClr val="5C6670"/>
                </a:solidFill>
              </a:defRPr>
            </a:lvl6pPr>
            <a:lvl7pPr>
              <a:defRPr sz="1125" b="0">
                <a:solidFill>
                  <a:srgbClr val="5C6670"/>
                </a:solidFill>
              </a:defRPr>
            </a:lvl7pPr>
            <a:lvl8pPr>
              <a:defRPr sz="1125" b="0">
                <a:solidFill>
                  <a:srgbClr val="5C6670"/>
                </a:solidFill>
              </a:defRPr>
            </a:lvl8pPr>
            <a:lvl9pPr>
              <a:defRPr sz="1125" b="0">
                <a:solidFill>
                  <a:srgbClr val="5C667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Repositorio GitHub: https://github.com/ROXIAN120/Actividad-1-tecnologia-web-2</a:t>
            </a:r>
          </a:p>
          <a:p xmlns:a="http://schemas.openxmlformats.org/drawingml/2006/main">
            <a:pPr>
              <a:defRPr sz="1125" b="0">
                <a:solidFill>
                  <a:srgbClr val="5C6670"/>
                </a:solidFill>
              </a:defRPr>
            </a:pPr>
            <a:r>
              <a:rPr sz="1125" b="0">
                <a:solidFill>
                  <a:srgbClr val="5C6670"/>
                </a:solidFill>
              </a:rPr>
              <a:t>Rama de la entrega: laboratorio-11  |  Carpeta: actividad-03</a:t>
            </a:r>
          </a:p>
        </p:txBody>
      </p:sp>
    </p:spTree>
    <p:extLst>
      <p:ext uri="{BB962C8B-B14F-4D97-AF65-F5344CB8AC3E}">
        <p14:creationId xmlns:p14="http://schemas.microsoft.com/office/powerpoint/2010/main" val="944303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2026-10-24T00:15:37.3400000Z</dcterms:created>
  <dcterms:modified xsi:type="dcterms:W3CDTF">2026-10-24T00:15:37.3400000Z</dcterms:modified>
</coreProperties>
</file>