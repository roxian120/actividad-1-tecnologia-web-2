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1c8c25d5b4799" /><Relationship Type="http://schemas.openxmlformats.org/officeDocument/2006/relationships/extended-properties" Target="/docProps/app.xml" Id="Rd5db37f1f843443d" /><Relationship Type="http://schemas.openxmlformats.org/officeDocument/2006/relationships/officeDocument" Target="/ppt/presentation.xml" Id="R96b0b21e1719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88dd4e3194456"/>
  </p:sldMasterIdLst>
  <p:notesMasterIdLst>
    <p:notesMasterId xmlns:r="http://schemas.openxmlformats.org/officeDocument/2006/relationships" r:id="R88204d7fd39f4881"/>
  </p:notesMasterIdLst>
  <p:sldIdLst>
    <p:sldId xmlns:r="http://schemas.openxmlformats.org/officeDocument/2006/relationships" id="256" r:id="R845146fd5411499d"/>
    <p:sldId xmlns:r="http://schemas.openxmlformats.org/officeDocument/2006/relationships" id="257" r:id="R1e1cd66565824c1e"/>
    <p:sldId xmlns:r="http://schemas.openxmlformats.org/officeDocument/2006/relationships" id="258" r:id="R6b32c71c135e4aaa"/>
    <p:sldId xmlns:r="http://schemas.openxmlformats.org/officeDocument/2006/relationships" id="259" r:id="R0914664f37274375"/>
    <p:sldId xmlns:r="http://schemas.openxmlformats.org/officeDocument/2006/relationships" id="260" r:id="R8e8e08693d1f4ffa"/>
    <p:sldId xmlns:r="http://schemas.openxmlformats.org/officeDocument/2006/relationships" id="261" r:id="R4d8d9dfe7c7f47cc"/>
    <p:sldId xmlns:r="http://schemas.openxmlformats.org/officeDocument/2006/relationships" id="262" r:id="R46cb9505d04d49a8"/>
    <p:sldId xmlns:r="http://schemas.openxmlformats.org/officeDocument/2006/relationships" id="263" r:id="Raec0710cd2404d9e"/>
    <p:sldId xmlns:r="http://schemas.openxmlformats.org/officeDocument/2006/relationships" id="264" r:id="R884d3083150b4e86"/>
    <p:sldId xmlns:r="http://schemas.openxmlformats.org/officeDocument/2006/relationships" id="265" r:id="Re084df12ff0f4035"/>
    <p:sldId xmlns:r="http://schemas.openxmlformats.org/officeDocument/2006/relationships" id="266" r:id="Rf05d8dbaf7b24aff"/>
    <p:sldId xmlns:r="http://schemas.openxmlformats.org/officeDocument/2006/relationships" id="267" r:id="R4b6ab78ffe074fdb"/>
    <p:sldId xmlns:r="http://schemas.openxmlformats.org/officeDocument/2006/relationships" id="268" r:id="R748b0b4e248b4099"/>
    <p:sldId xmlns:r="http://schemas.openxmlformats.org/officeDocument/2006/relationships" id="269" r:id="R1f9affc56cce4cb4"/>
    <p:sldId xmlns:r="http://schemas.openxmlformats.org/officeDocument/2006/relationships" id="270" r:id="R6085bbffde214c28"/>
    <p:sldId xmlns:r="http://schemas.openxmlformats.org/officeDocument/2006/relationships" id="271" r:id="R10afa86eaec649e5"/>
    <p:sldId xmlns:r="http://schemas.openxmlformats.org/officeDocument/2006/relationships" id="272" r:id="R04316ea27c244a0a"/>
    <p:sldId xmlns:r="http://schemas.openxmlformats.org/officeDocument/2006/relationships" id="273" r:id="Rc7b4b30a18e54138"/>
    <p:sldId xmlns:r="http://schemas.openxmlformats.org/officeDocument/2006/relationships" id="274" r:id="Rb13d1fb6e763416b"/>
    <p:sldId xmlns:r="http://schemas.openxmlformats.org/officeDocument/2006/relationships" id="275" r:id="Rddd96850371e48cc"/>
    <p:sldId xmlns:r="http://schemas.openxmlformats.org/officeDocument/2006/relationships" id="276" r:id="R53718c0d92574871"/>
    <p:sldId xmlns:r="http://schemas.openxmlformats.org/officeDocument/2006/relationships" id="277" r:id="R6ea145a9542e4501"/>
    <p:sldId xmlns:r="http://schemas.openxmlformats.org/officeDocument/2006/relationships" id="278" r:id="R107330be165c4809"/>
    <p:sldId xmlns:r="http://schemas.openxmlformats.org/officeDocument/2006/relationships" id="279" r:id="R3189c82add6d471c"/>
    <p:sldId xmlns:r="http://schemas.openxmlformats.org/officeDocument/2006/relationships" id="280" r:id="R855e47369d3b4f39"/>
    <p:sldId xmlns:r="http://schemas.openxmlformats.org/officeDocument/2006/relationships" id="281" r:id="R8aad59e649584476"/>
    <p:sldId xmlns:r="http://schemas.openxmlformats.org/officeDocument/2006/relationships" id="282" r:id="Rdee07a6fad1f4a86"/>
    <p:sldId xmlns:r="http://schemas.openxmlformats.org/officeDocument/2006/relationships" id="283" r:id="Rb4767582b8b443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2514a3885447c" /><Relationship Type="http://schemas.openxmlformats.org/officeDocument/2006/relationships/slideMaster" Target="/ppt/slideMasters/slideMaster1.xml" Id="R6da88dd4e3194456" /><Relationship Type="http://schemas.openxmlformats.org/officeDocument/2006/relationships/notesMaster" Target="/ppt/notesMasters/notesMaster1.xml" Id="R88204d7fd39f4881" /><Relationship Type="http://schemas.openxmlformats.org/officeDocument/2006/relationships/presProps" Target="/ppt/presProps.xml" Id="Rc3089dbb01a5435a" /><Relationship Type="http://schemas.openxmlformats.org/officeDocument/2006/relationships/tableStyles" Target="/ppt/tableStyles.xml" Id="Rc5fc2c1b99a740d9" /><Relationship Type="http://schemas.openxmlformats.org/officeDocument/2006/relationships/slide" Target="/ppt/slides/slide1.xml" Id="R845146fd5411499d" /><Relationship Type="http://schemas.openxmlformats.org/officeDocument/2006/relationships/slide" Target="/ppt/slides/slide2.xml" Id="R1e1cd66565824c1e" /><Relationship Type="http://schemas.openxmlformats.org/officeDocument/2006/relationships/slide" Target="/ppt/slides/slide3.xml" Id="R6b32c71c135e4aaa" /><Relationship Type="http://schemas.openxmlformats.org/officeDocument/2006/relationships/slide" Target="/ppt/slides/slide4.xml" Id="R0914664f37274375" /><Relationship Type="http://schemas.openxmlformats.org/officeDocument/2006/relationships/slide" Target="/ppt/slides/slide5.xml" Id="R8e8e08693d1f4ffa" /><Relationship Type="http://schemas.openxmlformats.org/officeDocument/2006/relationships/slide" Target="/ppt/slides/slide6.xml" Id="R4d8d9dfe7c7f47cc" /><Relationship Type="http://schemas.openxmlformats.org/officeDocument/2006/relationships/slide" Target="/ppt/slides/slide7.xml" Id="R46cb9505d04d49a8" /><Relationship Type="http://schemas.openxmlformats.org/officeDocument/2006/relationships/slide" Target="/ppt/slides/slide8.xml" Id="Raec0710cd2404d9e" /><Relationship Type="http://schemas.openxmlformats.org/officeDocument/2006/relationships/slide" Target="/ppt/slides/slide9.xml" Id="R884d3083150b4e86" /><Relationship Type="http://schemas.openxmlformats.org/officeDocument/2006/relationships/slide" Target="/ppt/slides/slide10.xml" Id="Re084df12ff0f4035" /><Relationship Type="http://schemas.openxmlformats.org/officeDocument/2006/relationships/slide" Target="/ppt/slides/slide11.xml" Id="Rf05d8dbaf7b24aff" /><Relationship Type="http://schemas.openxmlformats.org/officeDocument/2006/relationships/slide" Target="/ppt/slides/slide12.xml" Id="R4b6ab78ffe074fdb" /><Relationship Type="http://schemas.openxmlformats.org/officeDocument/2006/relationships/slide" Target="/ppt/slides/slide13.xml" Id="R748b0b4e248b4099" /><Relationship Type="http://schemas.openxmlformats.org/officeDocument/2006/relationships/slide" Target="/ppt/slides/slide14.xml" Id="R1f9affc56cce4cb4" /><Relationship Type="http://schemas.openxmlformats.org/officeDocument/2006/relationships/slide" Target="/ppt/slides/slide15.xml" Id="R6085bbffde214c28" /><Relationship Type="http://schemas.openxmlformats.org/officeDocument/2006/relationships/slide" Target="/ppt/slides/slide16.xml" Id="R10afa86eaec649e5" /><Relationship Type="http://schemas.openxmlformats.org/officeDocument/2006/relationships/slide" Target="/ppt/slides/slide17.xml" Id="R04316ea27c244a0a" /><Relationship Type="http://schemas.openxmlformats.org/officeDocument/2006/relationships/slide" Target="/ppt/slides/slide18.xml" Id="Rc7b4b30a18e54138" /><Relationship Type="http://schemas.openxmlformats.org/officeDocument/2006/relationships/slide" Target="/ppt/slides/slide19.xml" Id="Rb13d1fb6e763416b" /><Relationship Type="http://schemas.openxmlformats.org/officeDocument/2006/relationships/slide" Target="/ppt/slides/slide20.xml" Id="Rddd96850371e48cc" /><Relationship Type="http://schemas.openxmlformats.org/officeDocument/2006/relationships/slide" Target="/ppt/slides/slide21.xml" Id="R53718c0d92574871" /><Relationship Type="http://schemas.openxmlformats.org/officeDocument/2006/relationships/slide" Target="/ppt/slides/slide22.xml" Id="R6ea145a9542e4501" /><Relationship Type="http://schemas.openxmlformats.org/officeDocument/2006/relationships/slide" Target="/ppt/slides/slide23.xml" Id="R107330be165c4809" /><Relationship Type="http://schemas.openxmlformats.org/officeDocument/2006/relationships/slide" Target="/ppt/slides/slide24.xml" Id="R3189c82add6d471c" /><Relationship Type="http://schemas.openxmlformats.org/officeDocument/2006/relationships/slide" Target="/ppt/slides/slide25.xml" Id="R855e47369d3b4f39" /><Relationship Type="http://schemas.openxmlformats.org/officeDocument/2006/relationships/slide" Target="/ppt/slides/slide26.xml" Id="R8aad59e649584476" /><Relationship Type="http://schemas.openxmlformats.org/officeDocument/2006/relationships/slide" Target="/ppt/slides/slide27.xml" Id="Rdee07a6fad1f4a86" /><Relationship Type="http://schemas.openxmlformats.org/officeDocument/2006/relationships/slide" Target="/ppt/slides/slide28.xml" Id="Rb4767582b8b4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4bf07c41540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f3c577e67648a3" /><Relationship Type="http://schemas.openxmlformats.org/officeDocument/2006/relationships/notesMaster" Target="/ppt/notesMasters/notesMaster1.xml" Id="R80089e8784e641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f5e9aa1644eff" /><Relationship Type="http://schemas.openxmlformats.org/officeDocument/2006/relationships/notesMaster" Target="/ppt/notesMasters/notesMaster1.xml" Id="Rfeb17cfd55d74b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853a47737420e" /><Relationship Type="http://schemas.openxmlformats.org/officeDocument/2006/relationships/notesMaster" Target="/ppt/notesMasters/notesMaster1.xml" Id="R6b3011b0c402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e1080418c4133" /><Relationship Type="http://schemas.openxmlformats.org/officeDocument/2006/relationships/notesMaster" Target="/ppt/notesMasters/notesMaster1.xml" Id="Ra9278ba6d8764b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20d092d71f4766" /><Relationship Type="http://schemas.openxmlformats.org/officeDocument/2006/relationships/notesMaster" Target="/ppt/notesMasters/notesMaster1.xml" Id="Re0df748bc1bd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63a589d9094c8a" /><Relationship Type="http://schemas.openxmlformats.org/officeDocument/2006/relationships/notesMaster" Target="/ppt/notesMasters/notesMaster1.xml" Id="Reb819875e4c2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1c4552d7cd49b4" /><Relationship Type="http://schemas.openxmlformats.org/officeDocument/2006/relationships/notesMaster" Target="/ppt/notesMasters/notesMaster1.xml" Id="Raa283d7dbf904f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7ea387a7ef49d2" /><Relationship Type="http://schemas.openxmlformats.org/officeDocument/2006/relationships/notesMaster" Target="/ppt/notesMasters/notesMaster1.xml" Id="R16c20db4f156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4dcb3573944053" /><Relationship Type="http://schemas.openxmlformats.org/officeDocument/2006/relationships/notesMaster" Target="/ppt/notesMasters/notesMaster1.xml" Id="R54d45bba99684e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b86e10e6a5486c" /><Relationship Type="http://schemas.openxmlformats.org/officeDocument/2006/relationships/notesMaster" Target="/ppt/notesMasters/notesMaster1.xml" Id="Rd5e8eade4c854a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27fff1292a4209" /><Relationship Type="http://schemas.openxmlformats.org/officeDocument/2006/relationships/notesMaster" Target="/ppt/notesMasters/notesMaster1.xml" Id="R55f4c96df0e741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f6135c7dbd4bf0" /><Relationship Type="http://schemas.openxmlformats.org/officeDocument/2006/relationships/notesMaster" Target="/ppt/notesMasters/notesMaster1.xml" Id="R3f648e2cd4bc4d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50a570be954f4c" /><Relationship Type="http://schemas.openxmlformats.org/officeDocument/2006/relationships/notesMaster" Target="/ppt/notesMasters/notesMaster1.xml" Id="R5ffecb708d474f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2a553e888941ac" /><Relationship Type="http://schemas.openxmlformats.org/officeDocument/2006/relationships/notesMaster" Target="/ppt/notesMasters/notesMaster1.xml" Id="Ra020259e5c4348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6e70458e824b25" /><Relationship Type="http://schemas.openxmlformats.org/officeDocument/2006/relationships/notesMaster" Target="/ppt/notesMasters/notesMaster1.xml" Id="Rb6dbc93add2a4f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fc8c030ee24bd4" /><Relationship Type="http://schemas.openxmlformats.org/officeDocument/2006/relationships/notesMaster" Target="/ppt/notesMasters/notesMaster1.xml" Id="Rdf51b3019d7d46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4fb27c1275414c" /><Relationship Type="http://schemas.openxmlformats.org/officeDocument/2006/relationships/notesMaster" Target="/ppt/notesMasters/notesMaster1.xml" Id="R3df527f7257f49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f7e9e9acea4ec9" /><Relationship Type="http://schemas.openxmlformats.org/officeDocument/2006/relationships/notesMaster" Target="/ppt/notesMasters/notesMaster1.xml" Id="R55fe94f72be147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b564c0a9c447c6" /><Relationship Type="http://schemas.openxmlformats.org/officeDocument/2006/relationships/notesMaster" Target="/ppt/notesMasters/notesMaster1.xml" Id="R30b51729146243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6d3c1faa264ca4" /><Relationship Type="http://schemas.openxmlformats.org/officeDocument/2006/relationships/notesMaster" Target="/ppt/notesMasters/notesMaster1.xml" Id="R37aac7c02e6347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1c80aedc1c410c" /><Relationship Type="http://schemas.openxmlformats.org/officeDocument/2006/relationships/notesMaster" Target="/ppt/notesMasters/notesMaster1.xml" Id="Rea8c9658391446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0b763450b4483f" /><Relationship Type="http://schemas.openxmlformats.org/officeDocument/2006/relationships/notesMaster" Target="/ppt/notesMasters/notesMaster1.xml" Id="Rf96e72fce5aa45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d7e94e323642b6" /><Relationship Type="http://schemas.openxmlformats.org/officeDocument/2006/relationships/notesMaster" Target="/ppt/notesMasters/notesMaster1.xml" Id="R274079e318b641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6bd277dcab4b8e" /><Relationship Type="http://schemas.openxmlformats.org/officeDocument/2006/relationships/notesMaster" Target="/ppt/notesMasters/notesMaster1.xml" Id="R945a9459fbee4f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009d5152ec41aa" /><Relationship Type="http://schemas.openxmlformats.org/officeDocument/2006/relationships/notesMaster" Target="/ppt/notesMasters/notesMaster1.xml" Id="R81e0ed99b4db40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29ab6f49df44f3" /><Relationship Type="http://schemas.openxmlformats.org/officeDocument/2006/relationships/notesMaster" Target="/ppt/notesMasters/notesMaster1.xml" Id="Ra51b0bdb79474c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4ab92ee51e46ce" /><Relationship Type="http://schemas.openxmlformats.org/officeDocument/2006/relationships/notesMaster" Target="/ppt/notesMasters/notesMaster1.xml" Id="R678fad76e1534b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63f978e3ee54a97" /><Relationship Type="http://schemas.openxmlformats.org/officeDocument/2006/relationships/notesMaster" Target="/ppt/notesMasters/notesMaster1.xml" Id="Rf406818efec24a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explicando que esta presentación no reemplaza al informe: lo sintetiza para la defensa. El objetivo es demostrar que la migración no fue solamente cambiar una fuente de datos; se diseñó un modelo relacional, se separó la persistencia en repositorios y se aplicaron controles de seguridad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Informe_Final_Actividad_02.pdf, portada y pp.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los requisitos de la consigna y anticipar dónde se demuestra cada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Consigna de Actividad 02; Informe final, pp. 3–4.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se migró el catálogo y qué riesgos elimina la base relacional.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2–3 y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Ubicar los resultados concretos y la cobertura de pruebas antes de entrar a detalles.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3–4 y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separación entre la parte pública, la lógica de aplicación y la persistencia.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8–10; aplicacion/public/index.php y aplicacion/src/.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las relaciones y por qué productos es la tabla 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5–6; aplicacion/sql/01-esquema.sql.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Detallar qué evita cada restricción y cómo ayuda a mantener información veraz.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5–6; aplicacion/sql/01-esquema.sql.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normalización con ejemplos concretos, no como una definición aislada.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procedimiento repetible de importación y por qué usa transacciones.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p. 7; aplicacion/bin/importar_json.php.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los parámetros que hacen fiable la conexión y el motivo de guardarlos fuera del directorio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8–9; aplicacion/config/database.php y .env.example.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parametrizar no es una frase decorativa, sino una propiedad del flujo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9–10 y 15; ProductoRepositorio.php y SocioRepositorio.php.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el recorrido de una operación de producto para que el público identifique responsabilidades.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10–12; aplicacion/src/ProductoRepositorio.php.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qué se valida y qué ocurre si el formulario contiene datos incoherentes.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11–12; evidencia 11_PRODUCTO_FORMULARIO.jpg.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cómo se actualiza una fila existente y cómo se evita que el navegador reenvíe un POST.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10–12; evidencia 13_PRODUCTO_EDITADO.jpg y 14_PRODUCTO_ELIMINADO.jpg.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la segunda entidad tiene su propio repositorio y sus propios casos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10–12; aplicacion/src/SocioRepositorio.php.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conjunto de pantallas de socios como prueba de CRUD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10–12; evidencias 05–07.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validación de negocio, errores de rutas y errores inesperados.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12–13; evidencia 10_VALIDACION_SOCIO.jpg.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caso de prueba, el resultado y las barreras que lo producen.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15–16; evidencia 03_INYECCION_SQL.jpg.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SQLi no es el único riesgo y documentar las defensas complementarias.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15–17; evidencia 08_XSS_REFLEJADO.jpg.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cómo se calcula la página y por qué se consulta COUNT(*) de manera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13–14; ProductoRepositorio.php.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alternativa keyset y contrastarla con OFFSET sin afirmar una mejora que la medición no demostró.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13–14 y 20; evidencia 09_PAGINACION_CLAVE.jpg.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índice con la consulta que pretende acelerar; no tratarlos como una lista ornamental.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6 y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Interpretar los resultados con cautela y reconocer el alcance limitado de la muestra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14 y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cobertura de pruebas como evidencia complementaria a las capturas manuales.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23 y 29–30; aplicacion/verificar.php.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aplicación se puede ejecutar de forma repetible y qué comandos respaldan la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p. 24; aplicacion/README.md y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Reconocer límites fortalece la defensa: no se deben prometer optimizaciones que no fueron medidas.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20–21 y 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Ofrecer un orden práctico de exposición que conecte la consigna con evidencia navegable.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p. 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el resultado con cada dimensión de la rúbrica y entregar los artefactos de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Informe final, pp. 25–28; repositorio GitHub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f127931bb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a15a7cd9145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8e80a311047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6e2f9b33d45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66462540c4d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3df91cc8d49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4D61D0-034A-4EE3-AFDE-3171FDA9C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5AC2E6-9E91-4E3E-BF54-49240A7C9B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07B73F-C5F6-4879-88E9-93B148AC2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34030A-123F-4032-8B68-DCA9EA2F29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BD280C-4812-45FF-AB39-37514225AC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FC64D3-FE97-48B9-AA5D-3166B2B0A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D8C4A6-4BF0-4D89-8D76-13371E8B6D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FB6CB3-C5CE-4F2C-A0C1-C1912C4C85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9A7DA6-B349-414F-A9B4-BF1D87C5ED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046D1-0395-4995-8197-EE58E38D3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149bcb2334ea4" /><Relationship Type="http://schemas.openxmlformats.org/officeDocument/2006/relationships/slideLayout" Target="/ppt/slideLayouts/slideLayout1.xml" Id="Re591b17ee78846cd" /><Relationship Type="http://schemas.openxmlformats.org/officeDocument/2006/relationships/slideLayout" Target="/ppt/slideLayouts/slideLayout2.xml" Id="R43eef4c6f3554cb6" /><Relationship Type="http://schemas.openxmlformats.org/officeDocument/2006/relationships/slideLayout" Target="/ppt/slideLayouts/slideLayout3.xml" Id="Rfb18d39546b04d12" /><Relationship Type="http://schemas.openxmlformats.org/officeDocument/2006/relationships/slideLayout" Target="/ppt/slideLayouts/slideLayout4.xml" Id="Re0f9df9e0d274425" /><Relationship Type="http://schemas.openxmlformats.org/officeDocument/2006/relationships/slideLayout" Target="/ppt/slideLayouts/slideLayout5.xml" Id="Rdb238003f96f433b" /><Relationship Type="http://schemas.openxmlformats.org/officeDocument/2006/relationships/slideLayout" Target="/ppt/slideLayouts/slideLayout6.xml" Id="Re1668fd0c9bd47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1b17ee78846cd"/>
    <p:sldLayoutId xmlns:r="http://schemas.openxmlformats.org/officeDocument/2006/relationships" id="2147483650" r:id="R43eef4c6f3554cb6"/>
    <p:sldLayoutId xmlns:r="http://schemas.openxmlformats.org/officeDocument/2006/relationships" id="2147483651" r:id="Rfb18d39546b04d12"/>
    <p:sldLayoutId xmlns:r="http://schemas.openxmlformats.org/officeDocument/2006/relationships" id="2147483652" r:id="Re0f9df9e0d274425"/>
    <p:sldLayoutId xmlns:r="http://schemas.openxmlformats.org/officeDocument/2006/relationships" id="2147483653" r:id="Rdb238003f96f433b"/>
    <p:sldLayoutId xmlns:r="http://schemas.openxmlformats.org/officeDocument/2006/relationships" id="2147483654" r:id="Re1668fd0c9bd47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a73d0377b41a2" /><Relationship Type="http://schemas.openxmlformats.org/officeDocument/2006/relationships/notesSlide" Target="/ppt/notesSlides/notesSlide1.xml" Id="R0423ec66eb7749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e86dd02ac420d" /><Relationship Type="http://schemas.openxmlformats.org/officeDocument/2006/relationships/notesSlide" Target="/ppt/notesSlides/notesSlide2.xml" Id="R4cc44ed7abfa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e8eae59e9495e" /><Relationship Type="http://schemas.openxmlformats.org/officeDocument/2006/relationships/notesSlide" Target="/ppt/notesSlides/notesSlide3.xml" Id="R04a87d061ff0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6f491bf2c4978" /><Relationship Type="http://schemas.openxmlformats.org/officeDocument/2006/relationships/image" Target="/ppt/media/image.jpeg" Id="R3b58fd92d4d2464c" /><Relationship Type="http://schemas.openxmlformats.org/officeDocument/2006/relationships/notesSlide" Target="/ppt/notesSlides/notesSlide4.xml" Id="R71c5a03bdbe9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147133a5c46b2" /><Relationship Type="http://schemas.openxmlformats.org/officeDocument/2006/relationships/notesSlide" Target="/ppt/notesSlides/notesSlide5.xml" Id="R57ae0fa18c7d48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b657bd5db4065" /><Relationship Type="http://schemas.openxmlformats.org/officeDocument/2006/relationships/notesSlide" Target="/ppt/notesSlides/notesSlide6.xml" Id="R29d3fd22401748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45057ccaa4a2a" /><Relationship Type="http://schemas.openxmlformats.org/officeDocument/2006/relationships/notesSlide" Target="/ppt/notesSlides/notesSlide7.xml" Id="R1e994cdc11c14a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c7e6e099b4e88" /><Relationship Type="http://schemas.openxmlformats.org/officeDocument/2006/relationships/notesSlide" Target="/ppt/notesSlides/notesSlide8.xml" Id="R7857d02016ed43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992eb202a4a40" /><Relationship Type="http://schemas.openxmlformats.org/officeDocument/2006/relationships/notesSlide" Target="/ppt/notesSlides/notesSlide9.xml" Id="R60fabb78b625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1ff814bf44779" /><Relationship Type="http://schemas.openxmlformats.org/officeDocument/2006/relationships/notesSlide" Target="/ppt/notesSlides/notesSlide10.xml" Id="R3c6bbaf0ddd64d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925a1506147f6" /><Relationship Type="http://schemas.openxmlformats.org/officeDocument/2006/relationships/notesSlide" Target="/ppt/notesSlides/notesSlide11.xml" Id="R240bf9a7a2c041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afa4a0a794aa7" /><Relationship Type="http://schemas.openxmlformats.org/officeDocument/2006/relationships/image" Target="/ppt/media/image2.jpeg" Id="R1c13ea3f3f504fa8" /><Relationship Type="http://schemas.openxmlformats.org/officeDocument/2006/relationships/notesSlide" Target="/ppt/notesSlides/notesSlide12.xml" Id="R2c8bc32357a246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d75cd2fa64263" /><Relationship Type="http://schemas.openxmlformats.org/officeDocument/2006/relationships/image" Target="/ppt/media/image3.jpeg" Id="Rbcb6b21c3d3d43cc" /><Relationship Type="http://schemas.openxmlformats.org/officeDocument/2006/relationships/notesSlide" Target="/ppt/notesSlides/notesSlide13.xml" Id="Ra6f810cd13204a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43c0f15fa46aa" /><Relationship Type="http://schemas.openxmlformats.org/officeDocument/2006/relationships/image" Target="/ppt/media/image4.jpeg" Id="R7226c2015f684928" /><Relationship Type="http://schemas.openxmlformats.org/officeDocument/2006/relationships/image" Target="/ppt/media/image5.jpeg" Id="R08b5bf03423f4342" /><Relationship Type="http://schemas.openxmlformats.org/officeDocument/2006/relationships/notesSlide" Target="/ppt/notesSlides/notesSlide14.xml" Id="Rbac2aad05a7340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06f82c55c4a3f" /><Relationship Type="http://schemas.openxmlformats.org/officeDocument/2006/relationships/image" Target="/ppt/media/image6.jpeg" Id="Rfb3c9bacd2ff4f83" /><Relationship Type="http://schemas.openxmlformats.org/officeDocument/2006/relationships/notesSlide" Target="/ppt/notesSlides/notesSlide15.xml" Id="Rd7b368861fb446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12ccfdcfa493b" /><Relationship Type="http://schemas.openxmlformats.org/officeDocument/2006/relationships/image" Target="/ppt/media/image7.jpeg" Id="Ra64d196d172c4152" /><Relationship Type="http://schemas.openxmlformats.org/officeDocument/2006/relationships/image" Target="/ppt/media/image8.jpeg" Id="R138d683bbf0a432d" /><Relationship Type="http://schemas.openxmlformats.org/officeDocument/2006/relationships/image" Target="/ppt/media/image9.jpeg" Id="R331e3dbe5efb44b0" /><Relationship Type="http://schemas.openxmlformats.org/officeDocument/2006/relationships/notesSlide" Target="/ppt/notesSlides/notesSlide16.xml" Id="R497bbe2b70dc47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42a37ee9048f3" /><Relationship Type="http://schemas.openxmlformats.org/officeDocument/2006/relationships/image" Target="/ppt/media/image10.jpeg" Id="R48fa1067bafd4d52" /><Relationship Type="http://schemas.openxmlformats.org/officeDocument/2006/relationships/notesSlide" Target="/ppt/notesSlides/notesSlide17.xml" Id="R4c8b79e5250b4b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27bcdc3f74aa6" /><Relationship Type="http://schemas.openxmlformats.org/officeDocument/2006/relationships/image" Target="/ppt/media/image11.jpeg" Id="R05cc512f03554bf4" /><Relationship Type="http://schemas.openxmlformats.org/officeDocument/2006/relationships/notesSlide" Target="/ppt/notesSlides/notesSlide18.xml" Id="R47d2983abdb442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b96d6b5ce473d" /><Relationship Type="http://schemas.openxmlformats.org/officeDocument/2006/relationships/image" Target="/ppt/media/image12.jpeg" Id="R053d4a40e5ae4113" /><Relationship Type="http://schemas.openxmlformats.org/officeDocument/2006/relationships/notesSlide" Target="/ppt/notesSlides/notesSlide19.xml" Id="Rb87d8f99810047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ffd9ce86344cc" /><Relationship Type="http://schemas.openxmlformats.org/officeDocument/2006/relationships/notesSlide" Target="/ppt/notesSlides/notesSlide20.xml" Id="Re613935ba88040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610c3c9b240cf" /><Relationship Type="http://schemas.openxmlformats.org/officeDocument/2006/relationships/image" Target="/ppt/media/image13.jpeg" Id="R41852c5adb78443d" /><Relationship Type="http://schemas.openxmlformats.org/officeDocument/2006/relationships/notesSlide" Target="/ppt/notesSlides/notesSlide21.xml" Id="Rdc6a8a7421ae4a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04c0aa510427d" /><Relationship Type="http://schemas.openxmlformats.org/officeDocument/2006/relationships/notesSlide" Target="/ppt/notesSlides/notesSlide22.xml" Id="R11f8f25e2f1e49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637f8554a433a" /><Relationship Type="http://schemas.openxmlformats.org/officeDocument/2006/relationships/notesSlide" Target="/ppt/notesSlides/notesSlide23.xml" Id="R0c738e36606845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296765bbd48e2" /><Relationship Type="http://schemas.openxmlformats.org/officeDocument/2006/relationships/notesSlide" Target="/ppt/notesSlides/notesSlide24.xml" Id="R96b1c020179e47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a2dcb5fac4374" /><Relationship Type="http://schemas.openxmlformats.org/officeDocument/2006/relationships/notesSlide" Target="/ppt/notesSlides/notesSlide25.xml" Id="R099f36a59e7a46a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f216277754a5a" /><Relationship Type="http://schemas.openxmlformats.org/officeDocument/2006/relationships/notesSlide" Target="/ppt/notesSlides/notesSlide26.xml" Id="R4d6c82664f3849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9fd5cb0794a61" /><Relationship Type="http://schemas.openxmlformats.org/officeDocument/2006/relationships/notesSlide" Target="/ppt/notesSlides/notesSlide27.xml" Id="Rbd34a1bda8fe48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dc66031394ec6" /><Relationship Type="http://schemas.openxmlformats.org/officeDocument/2006/relationships/notesSlide" Target="/ppt/notesSlides/notesSlide28.xml" Id="R3754a1bb960344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B853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9A550-B0A5-49B5-89B8-FAC129AD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37C8F-DF86-4019-BB86-3EA26730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E9B0"/>
                </a:solidFill>
                <a:latin typeface="Arial"/>
                <a:ea typeface="Arial"/>
                <a:cs typeface="Arial"/>
              </a:rPr>
              <a:t>Actividad 02 · De JSON a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F733E-827D-469D-816D-D2CC5C1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771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Migración segura del</a:t>
            </a:r>
          </a:p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catálogo apícola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474C-1B0F-4F11-9524-84BB96F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CRUD de productos y socios con PDO, consultas preparadas, validación, paginación y evidencia de seguridad.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9666D-B6A2-4F43-8E68-5E33409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8F"/>
          </a:solidFill>
          <a:ln xmlns:a="http://schemas.openxmlformats.org/drawingml/2006/main" w="4763">
            <a:solidFill>
              <a:srgbClr val="F5D58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8594F-3ACA-4065-A2F9-EE0CE5FB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E9B0"/>
                </a:solidFill>
                <a:latin typeface="Arial"/>
                <a:ea typeface="Arial"/>
                <a:cs typeface="Arial"/>
              </a:rPr>
              <a:t>Informe técnico final · Defensa de actividad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1B89D-93FB-4B55-9966-89E742BF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UPDS · Tecnología Web II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D7BD1-D70E-4E89-B49B-6CA60C2D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91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E9B0"/>
                </a:solidFill>
                <a:latin typeface="Arial"/>
                <a:ea typeface="Arial"/>
                <a:cs typeface="Arial"/>
              </a:rPr>
              <a:t>28 diapositivas explicativas</a:t>
            </a:r>
          </a:p>
          <a:p xmlns:a="http://schemas.openxmlformats.org/drawingml/2006/main">
            <a:pPr>
              <a:defRPr sz="10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E9B0"/>
                </a:solidFill>
                <a:latin typeface="Arial"/>
                <a:ea typeface="Arial"/>
                <a:cs typeface="Arial"/>
              </a:rPr>
              <a:t>+ notas de exposición</a:t>
            </a:r>
          </a:p>
        </p:txBody>
      </p:sp>
    </p:spTree>
    <p:extLst>
      <p:ext uri="{BB962C8B-B14F-4D97-AF65-F5344CB8AC3E}">
        <p14:creationId xmlns:p14="http://schemas.microsoft.com/office/powerpoint/2010/main" val="436085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0C074-121D-4C58-9593-55F456D2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70EE4-AFF7-4458-9490-A8A6C98E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 DE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0B783-2367-4ACB-8548-81C9332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Qué exige la actividad y cómo se demuestra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0EA8A-7212-4573-BD18-9666B985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06A74-9F68-4277-92D9-0B31030C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FCF73-507A-495D-A706-724100A98007}"/>
              </a:ext>
            </a:extLst>
          </p:cNvPr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763000"/>
              </a:tblGrid>
              <a:tr h="4921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Evidencia de esta entrega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Modelo MySQL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DER, script SQL, claves foráneas, restricciones e índices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PDO y CRUD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Repositorios ProductoRepositorio y SocioRepositorio; pantallas y pruebas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Seguridad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Consultas preparadas, validación, CSRF, XSS y prueba de inyección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Rendimiento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Paginación, conteos e interpretación de EXPLAIN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Documentación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Informe APA 7, bitácora IA, GitHub, capturas y presentación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9A6C8-AEA0-48AE-8A7C-7EA8AE9E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Ruta de la exposición: problema → diseño → implementación → seguridad → resultados → defensa.</a:t>
            </a:r>
          </a:p>
        </p:txBody>
      </p:sp>
    </p:spTree>
    <p:extLst>
      <p:ext uri="{BB962C8B-B14F-4D97-AF65-F5344CB8AC3E}">
        <p14:creationId xmlns:p14="http://schemas.microsoft.com/office/powerpoint/2010/main" val="1784876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05E4D-75C9-4A3D-84CF-C2ACB6E1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13492-FF01-4BB2-B669-FC420968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B9D53-E4F0-4B29-83C1-0A6681D1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El problema: un catálogo JSON no escala como fuente operativa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6EF86-27BA-4587-8640-5E9E2F9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D6455-0C57-4995-816A-3B92E081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7E468-E7D0-47C2-AB89-CC64D63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ANTES: ARCHIVO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1DD36-9EA0-4A3D-A4D4-AF7F3117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Datos repetidos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1EF27-B0DE-4BBB-B373-4E850A7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El nombre y la localidad del socio se repetían en cada producto.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85AA7-1485-41DE-9A0E-D7AD551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Reglas débiles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E541D-0FFA-498D-88F3-9A4784F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No había claves foráneas que impidieran referencias a socios inexistentes.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C3DBC-BC8E-4456-BEE7-A958F92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Consultas limitadas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8D92A-B96E-4A83-83C0-0C185EE0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Filtrar, paginar y ordenar depende de cargar datos en memoria.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01259-6EC5-4CE4-B0CB-A05029E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DC2C5-6610-4992-A235-160D613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DESPUÉS: MYSQL + PDO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678B4-EA1C-4C1F-8273-7334E84F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B6A28-7F82-4056-8570-31F7B876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Categoría y socio se relacionan mediante claves foráneas.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657EB-0CE6-49E4-AEE2-1B04803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Operaciones seguras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23129-8291-43D0-B1E1-7D12C5F3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718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El SQL queda parametrizado; los datos no modifican la sentencia.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6435B-6F35-4913-919F-A870422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Consulta eficiente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708DF-B1FF-4A66-A380-37B42A3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Filtros, orden, conteos e índices se ejecutan en el motor.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FD2AC-7A28-4237-8F6A-D12CBA35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B2"/>
          </a:solidFill>
          <a:ln xmlns:a="http://schemas.openxmlformats.org/drawingml/2006/main" w="4763">
            <a:solidFill>
              <a:srgbClr val="FCE6B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9635C-621C-40F3-9480-D59A12CE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838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Resultado: la aplicación conserva su objetivo, pero ahora administra datos coherentes.</a:t>
            </a:r>
          </a:p>
        </p:txBody>
      </p:sp>
    </p:spTree>
    <p:extLst>
      <p:ext uri="{BB962C8B-B14F-4D97-AF65-F5344CB8AC3E}">
        <p14:creationId xmlns:p14="http://schemas.microsoft.com/office/powerpoint/2010/main" val="1016824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CA9F9-508A-4E64-991F-D2820885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93D67-3B3E-48DD-9D11-F17E2A2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3AAC-3691-47BC-859E-561C144D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Alcance entregado: la migración ya está comprobada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1A96A-74F5-413A-8F36-B91C386C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DB8EE-503C-4CDF-9835-E001530E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F07C-AFD6-40EB-8E0D-BB4EDC5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Base de datos independiente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21287-2D71-4F61-820E-F618EFD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MySQL contiene categorías, socios y productos con datos de ejemplo coherentes.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FB206-0B99-4AD5-9883-2B756100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Dos CRUD completos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689BF-240F-40C3-803D-32CC07B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Se crean, listan, editan y eliminan productos y socios; se controla la integridad al eliminar.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23191-15AC-439E-9FC1-5502ACEA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48 de 48 verificaciones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14DE3-6E46-4346-86C5-4B0AF4DF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Las pruebas automáticas cubren persistencia, filtros, paginación, seguridad y rutas.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98A19-68DF-4E62-93C6-D6ABB289DC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8fd92d4d2464c"/>
          <a:stretch xmlns:a="http://schemas.openxmlformats.org/drawingml/2006/main"/>
        </p:blipFill>
        <p:spPr>
          <a:xfrm xmlns:a="http://schemas.openxmlformats.org/drawingml/2006/main">
            <a:off x="7061112" y="1666875"/>
            <a:ext cx="3118025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FBDDC-83C7-4817-8BD2-C797CCEE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Evidencia funcional: lista de productos conectada a MySQL.</a:t>
            </a:r>
          </a:p>
        </p:txBody>
      </p:sp>
    </p:spTree>
    <p:extLst>
      <p:ext uri="{BB962C8B-B14F-4D97-AF65-F5344CB8AC3E}">
        <p14:creationId xmlns:p14="http://schemas.microsoft.com/office/powerpoint/2010/main" val="1151400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C5B66-BE5A-447E-A927-C293B0A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04216-1293-46C0-B036-322B348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8840B-4307-45B0-A2FE-7BA0090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Arquitectura: qué ocurre en cada solicitud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69AE1-4DBE-424B-A3DE-FC85F50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01845-1885-46A2-821A-353B550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479E6-EE44-4310-9C6E-459993A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64D07-2920-4207-AB03-1647FC09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EB67D-89E6-44A4-8C06-CD667CA9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Formulario o enlace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2C715-49A6-4F12-9A89-504B91D7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8E6F6-8E05-4CA5-A1B0-64866A3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C5D13-288D-4475-BDA6-78EB37A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28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AFAB8-D528-4D8A-8304-F2A1AC56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146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Resuelve ruta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A0F91-9BAB-404A-805D-5C592E9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717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57C83-E4D9-484C-9547-52988AA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1E938-9681-432D-AD29-78DD3828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28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Controlador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35EBE-F433-48B3-A823-64F2A768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146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Valida y 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A2DE4-74B0-459F-8C2C-E1327F38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B6504-5E6D-4CBD-99F3-16E50D5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69342-8371-4EC7-ADF0-7763444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28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Repositorio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13C1F-549C-422E-AA0B-E208551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146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Prepara y ejecuta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E351F-324A-4A43-9541-41447D6A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717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3910F-0CB6-488A-AE24-6F30C2A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3837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B2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41E75-891B-43E6-9CC1-3CBEFDE9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28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A6A78-B9B8-49ED-97F2-B76311E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1462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Guarda / consulta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DD143-FCC8-49C2-839B-EF0CBC6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Regla central: public/ expone únicamente la entrada HTTP. La configuración PDO queda fuera de esa carpeta; el repositorio concentra SQL y el controlador entrega datos ya validados a las vistas.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12EF0-9D26-4650-96D1-8A3CA76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1"/>
          </a:solidFill>
          <a:ln xmlns:a="http://schemas.openxmlformats.org/drawingml/2006/main" w="4763">
            <a:solidFill>
              <a:srgbClr val="FFF0C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9B765-BB58-483B-B6E8-BDBCF637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838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Separar responsabilidades facilita pruebas, reduce duplicación y acota la superficie de ataque.</a:t>
            </a:r>
          </a:p>
        </p:txBody>
      </p:sp>
    </p:spTree>
    <p:extLst>
      <p:ext uri="{BB962C8B-B14F-4D97-AF65-F5344CB8AC3E}">
        <p14:creationId xmlns:p14="http://schemas.microsoft.com/office/powerpoint/2010/main" val="1500340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8B722-8A44-49B5-A021-215A7C9A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CD6DB-CAA7-45E3-9B8C-712CDBB7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DISEÑO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1CA9F-96BA-4ED7-B85E-34E2A03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Modelo entidad–relación: tres entidades y dos relaciones 1:N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13445-05F2-4243-9A7D-511DEDF5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57745-C03B-4C9A-B382-981A8D4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4A779-1543-410A-8BB5-3F811A7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714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B9F07-2553-4F9D-BAE1-A71D29B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668AD-8CD9-43DF-A991-A36BACA0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categorias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11FE5-64C5-4AD9-A905-B9D8D9BB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id PK</a:t>
            </a:r>
          </a:p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nombre UNIQUE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43EBB-0044-46C9-A5C0-A79B8D1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714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F0CA3-81AA-4FB8-AB46-1B9B8BA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2BE7A-3D32-4924-82FE-164147E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383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C25A7-5D4F-4E70-8659-B5A204B4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7650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id PK</a:t>
            </a:r>
          </a:p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codigo UNIQUE</a:t>
            </a:r>
          </a:p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categoria_id FK</a:t>
            </a:r>
          </a:p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socio_id FK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9E96B-7C54-4FBD-8465-A7E97828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714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0FB0A-B529-4C14-AF8D-43F27C4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E1808-1E50-4CBE-9CC9-E15EC2C6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383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21E01-96F9-4B62-83B4-AFC6AB1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7650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id PK</a:t>
            </a:r>
          </a:p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nombre</a:t>
            </a:r>
          </a:p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localidad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52098-9FE7-439D-9F51-68C471C5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FFA91-65CB-4E03-ACC9-335E7F38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43BA0-FF96-4041-9A44-6295F47D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categoría asignada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F334F-010C-4444-8BAA-B1D50138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E589C-D43D-4C46-BCAA-C32D6D02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CAC31-0FE4-496A-BDE2-52D0A4C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051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socio productor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181CF-3169-4DCD-B34E-A69BB4F5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Cada producto pertenece a una categoría y a un socio. Una categoría o un socio puede tener muchos productos. Por ello las claves foráneas se guardan en productos, no se repiten datos de categoría o socio en cada fila.</a:t>
            </a:r>
          </a:p>
        </p:txBody>
      </p:sp>
    </p:spTree>
    <p:extLst>
      <p:ext uri="{BB962C8B-B14F-4D97-AF65-F5344CB8AC3E}">
        <p14:creationId xmlns:p14="http://schemas.microsoft.com/office/powerpoint/2010/main" val="662880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67A5F-6C67-4FCA-8A22-76E0906B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DEF99-0C5C-4981-8CE9-7E7BD8CD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68FB8-2EF9-4696-9338-665B8309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Integridad: las reglas no dependen solo de la 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B9FAC-5A0D-42C6-849A-3DEFA623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2F4B8-036A-4C6F-8FAE-60394EE0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3946A-3212-44D2-9FC4-9E39CE9A41FD}"/>
              </a:ext>
            </a:extLst>
          </p:cNvPr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286250"/>
                <a:gridCol w="5334000"/>
              </a:tblGrid>
              <a:tr h="515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Elemento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Regla aplicada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Problema que evita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id autoincremental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Filas sin identificador estable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UNIQUE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categorias.nombre y productos.codigo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Duplicados de categoría o código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productos.categoria_id / socio_id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 con referencias inexistentes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precio ≥ 0 y stock ≥ 0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Valores físicos imposibles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Índices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categoría, socio y consultas de lista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Lecturas innecesarias al filtrar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EF2FE-8044-4E4E-AB1C-0B8183D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La validación del formulario mejora la experiencia, pero la base de datos es la última barrera: incluso una inserción directa debe respetar las reglas.</a:t>
            </a:r>
          </a:p>
        </p:txBody>
      </p:sp>
    </p:spTree>
    <p:extLst>
      <p:ext uri="{BB962C8B-B14F-4D97-AF65-F5344CB8AC3E}">
        <p14:creationId xmlns:p14="http://schemas.microsoft.com/office/powerpoint/2010/main" val="1988262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A1E4E-8F9D-4D86-A1CD-3C9576DE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8C330-8BE7-45A8-B6AE-7238017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31F85-4CF2-46FC-8E82-91626EC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Normalización: una sola fuente para cada dato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16A3B-F5BB-4E1D-873C-7C646DB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2D1E8-4DAD-4A90-A76D-421CEC3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850DA-EC30-49EF-85C2-4531465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1FN: valores atómicos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9AF25-C10D-4BCE-8CDE-5E674D4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Cada columna guarda un único valor: precio, stock, categoría o socio; no listas dentro de una celda.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F2CB-E52C-44C4-BD63-C4B67542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2FN: atributos en su entidad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B7D5D-D1E1-4E8A-A8D9-3796E2E4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Nombre y localidad pertenecen al socio, no al producto; el código identifica el producto.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3C9D0-B461-4914-A74F-5A9C183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3FN: se evita dependencia transitiva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66EFE-7392-41BC-9A9F-E2320BFA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categoría se identifica con una FK, por lo que cambiar su nombre ocurre una sola vez.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45840-F12A-4EBF-B72A-77461F93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000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4423F-B230-4C0F-ADD9-4C1469B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Ejemplo de corrección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D73E2-2976-419E-ABEA-FB9E9515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Antes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“Producto X — Socio: Elena Masabí — San Ignacio...”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Después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productos.socio_id = 3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socios.id = 3 → Elena Masabí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localidad = San Ignacio</a:t>
            </a:r>
          </a:p>
        </p:txBody>
      </p:sp>
    </p:spTree>
    <p:extLst>
      <p:ext uri="{BB962C8B-B14F-4D97-AF65-F5344CB8AC3E}">
        <p14:creationId xmlns:p14="http://schemas.microsoft.com/office/powerpoint/2010/main" val="1677841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295DF-5F81-4286-B7BA-7FE03AF2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7726B-C016-4AFF-B8B5-FEB2910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27842-D5D5-4208-974B-1D54CB0B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Migración inicial: de JSON a tablas relacionadas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D2EAA-18CD-4337-980D-9F202F8F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4C9E9-BB5A-4EAB-9A2E-8C8B1AE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181C5-54A0-4327-BC90-AD7A883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09863-08C8-4557-9660-C96BA7A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3C5BF-74E9-4693-B1BD-E2B4527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1. Leer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C91B5-B538-48E1-8D89-F72D6E1A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Decodificar catalogo.json y verificar estructura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0478A-E635-43FE-A0B2-F3905AE2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146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8B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ED081-355F-4E7E-AC71-9C537A3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1E3D9-9EB4-4EC7-B1D5-2A3599A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91F38-BB38-4D40-934B-D1FBA300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2. Catalogar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38960-EF3C-4C8F-822A-D581E4A4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09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Insertar o recuperar cada categoría y socio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BCE66-5E8F-4A5D-A0D8-BC736103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146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8B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9CCD2-1F53-4AD8-8EDD-1F15DB49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CF178-A744-4DE1-8CB7-3B694EDB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7133D-F02D-4D17-A0DC-69C1C58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3. Crear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F5034-6985-4F15-9080-F2806502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Insertar productos con sus ID foráneos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166BB-4C2A-42DF-A957-B98A05C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defPPr>
            <a:lvl1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1pPr>
            <a:lvl2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2pPr>
            <a:lvl3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3pPr>
            <a:lvl4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4pPr>
            <a:lvl5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5pPr>
            <a:lvl6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6pPr>
            <a:lvl7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7pPr>
            <a:lvl8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8pPr>
            <a:lvl9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E8B2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8B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13BC0-D931-4EE9-B7FB-BBCDC58C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A4A39-3BED-496A-A5AF-BF8EF8E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C5A5F-ED45-481B-BD38-A3280CCF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4. Confirmar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A77EA-CC4B-4BEA-B1BC-9247E362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09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Completar la transacción o revertir ante un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E31F2-833F-4A0F-8584-285E4CAC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77A5A"/>
                </a:solidFill>
                <a:latin typeface="Arial"/>
                <a:ea typeface="Arial"/>
                <a:cs typeface="Arial"/>
              </a:rPr>
              <a:t>La importación es idempotente: las claves únicas permiten ejecutarla sin duplicar categorías, socios ni códigos de producto.</a:t>
            </a:r>
          </a:p>
        </p:txBody>
      </p:sp>
    </p:spTree>
    <p:extLst>
      <p:ext uri="{BB962C8B-B14F-4D97-AF65-F5344CB8AC3E}">
        <p14:creationId xmlns:p14="http://schemas.microsoft.com/office/powerpoint/2010/main" val="297175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932B6-B432-4240-9F60-82CC9B28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4BA77-23BF-411F-A14E-5F85C58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CAB4E-E6AB-4225-AFDA-386101E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Conexión PDO: configuración privada y fallos controlados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8F6C8-C1ED-47B5-877B-ED5B6AEE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F2319-EE17-4241-A466-03647E2E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B5A8A-126B-4709-BBA4-8F88B3481E09}"/>
              </a:ext>
            </a:extLst>
          </p:cNvPr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72000"/>
                <a:gridCol w="4762500"/>
              </a:tblGrid>
              <a:tr h="531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Aplicación práctica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Beneficio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Ubicación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config/database.php fuera de public/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Las credenciales no son descargables desde la web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PDO nativo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ATTR_EMULATE_PREPARES = false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El servidor MySQL prepara la sentencia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Excepciones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ERRMODE_EXCEPTION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Los fallos se capturan y registran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Charset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utf8mb4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Soporta correctamente caracteres y acentos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Entorno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.env local; .env.example versionado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No se publican secretos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04AA1-36EB-4D23-9504-98096053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En producción no se muestran detalles de PDO al visitante. La aplicación asigna una referencia para soporte y escribe el detalle técnico al registro interno.</a:t>
            </a:r>
          </a:p>
        </p:txBody>
      </p:sp>
    </p:spTree>
    <p:extLst>
      <p:ext uri="{BB962C8B-B14F-4D97-AF65-F5344CB8AC3E}">
        <p14:creationId xmlns:p14="http://schemas.microsoft.com/office/powerpoint/2010/main" val="289970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8E66A-1956-402B-A8A4-0F4736C4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4BEB7-73E1-4869-8D16-B5917A3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B3FA7-D3A5-4434-8CC3-2E1C6D34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Consultas preparadas: separar instrucciones SQL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B60CE-7688-4D88-9613-207F672F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2F78F-260B-4A2C-A5B0-AC2D3AE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4DDD7-0895-4682-9D8A-BD9A0533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7ABD3-0FE2-43CF-9832-7EB867C9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Plantilla SQL fija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B2303-4466-4007-BB2C-C67AB02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15A93"/>
                </a:solidFill>
                <a:latin typeface="Arial"/>
                <a:ea typeface="Arial"/>
                <a:cs typeface="Arial"/>
              </a:rPr>
              <a:t>SELECT ... WHERE nombre LIKE :q</a:t>
            </a:r>
          </a:p>
          <a:p xmlns:a="http://schemas.openxmlformats.org/drawingml/2006/main">
            <a: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15A93"/>
                </a:solidFill>
                <a:latin typeface="Arial"/>
                <a:ea typeface="Arial"/>
                <a:cs typeface="Arial"/>
              </a:rPr>
              <a:t>AND categoria_id = :categoria</a:t>
            </a:r>
          </a:p>
          <a:p xmlns:a="http://schemas.openxmlformats.org/drawingml/2006/main">
            <a:pPr>
              <a:defRPr sz="1275" b="0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15A93"/>
                </a:solidFill>
                <a:latin typeface="Arial"/>
                <a:ea typeface="Arial"/>
                <a:cs typeface="Arial"/>
              </a:rPr>
              <a:t>LIMIT :limite OFFSET :offset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0679C-1A82-4ED3-B0CF-6DC3C7CB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Los marcadores son posiciones de datos, no fragmentos de sintaxis.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9F247-3687-4359-BE18-281ED27D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857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469AF-46F6-4CD8-91FD-811C13B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Valores enlazados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442B8-4B14-4560-A580-E67359C7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574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:q → "%miel%"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:categoria → 1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:limite → 10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:offset →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9D8FA-2A56-443C-A7A1-F05A8B9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766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PDO transmite valores tipados; el contenido no se interpreta como 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C2B6A-BDDD-4834-A6B0-09A5825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Caso especial: ORDER BY no admite parámetros para nombres de columna. Se resuelve con una lista cerrada (allowlist) de órdenes permitidos, nunca concatenando texto libre del usuario.</a:t>
            </a:r>
          </a:p>
        </p:txBody>
      </p:sp>
    </p:spTree>
    <p:extLst>
      <p:ext uri="{BB962C8B-B14F-4D97-AF65-F5344CB8AC3E}">
        <p14:creationId xmlns:p14="http://schemas.microsoft.com/office/powerpoint/2010/main" val="269033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95464-3172-4FCA-A320-D82A75E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74C46-BE3E-44BC-8F5A-62E59443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8DBA0-9567-436B-A762-44133150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CRUD de productos: desde el formulario hasta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CF894-6751-4845-BEB0-E28A8244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69427-2FB9-425B-9EB4-2DF48D9A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E9867-EC70-45B8-BC7F-3D76C13764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3ea3f3f504fa8"/>
          <a:stretch xmlns:a="http://schemas.openxmlformats.org/drawingml/2006/main"/>
        </p:blipFill>
        <p:spPr>
          <a:xfrm xmlns:a="http://schemas.openxmlformats.org/drawingml/2006/main">
            <a:off x="6524625" y="1666875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8C3CC-D4AF-4DDC-BBB1-D738D444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Crear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1C765-9B88-458B-A88F-54013D95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El controlador valida código, nombre, categoría, precio, stock y socio; el repositorio ejecuta INSERT preparado.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47F14-9DBB-4667-B59C-C9D152CE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Leer y filtrar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CED4C-34A0-491C-B937-0D748A9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buscar() combina filtros con parámetros, usa LIKE escapado y devuelve el total para paginar.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7CE9C-FD4F-4380-A1DF-90DAD00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Actualizar y eliminar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8D772-84BA-4607-A37D-BCFA4C1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UPDATE y DELETE reciben el ID validado. Luego se redirige para evitar reenvíos del formulario.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9A8A6-68AF-40D4-838A-5D38F36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625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La captura muestra filtros como datos de entrada; el SQL construido sigue siendo fijo.</a:t>
            </a:r>
          </a:p>
        </p:txBody>
      </p:sp>
    </p:spTree>
    <p:extLst>
      <p:ext uri="{BB962C8B-B14F-4D97-AF65-F5344CB8AC3E}">
        <p14:creationId xmlns:p14="http://schemas.microsoft.com/office/powerpoint/2010/main" val="9470726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E8A5E-9DFE-482D-A97D-4AEC1A54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610C-6D4F-401F-8397-4D894BD5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PRODUCTOS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D94FA-18B1-4EC8-9A7D-F09498C8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Producto: validación antes de insertar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D8FCA-A430-4980-BBCC-F22D39D3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F62A7-4D6C-453E-8266-088BB1E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BE495-4524-44A9-928D-C036D9A8FB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6b21c3d3d43cc"/>
          <a:stretch xmlns:a="http://schemas.openxmlformats.org/drawingml/2006/main"/>
        </p:blipFill>
        <p:spPr>
          <a:xfrm xmlns:a="http://schemas.openxmlformats.org/drawingml/2006/main">
            <a:off x="996104" y="1571625"/>
            <a:ext cx="4961041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B1979-81D5-47BE-9EC6-B57F4AC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Campos relevantes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5CCB8-DFEE-4BD9-8E0E-FDC7CE01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Código único, nombre, categoría existente, precio no negativo, stock no negativo y socio existente.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47C12-B761-45FE-80D6-E9B051BA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Doble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B1B33-FAD7-490A-B54A-72CEF166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Primero valida PHP para orientar al usuario; después MySQL impone UNIQUE, FK y CHECK.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79D86-95F7-4CA0-A3E6-595FF67B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Respuesta segura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A0CD4-3E40-4CCB-9478-7BA8FBDA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005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El formulario conserva datos permitidos, marca el campo y no expone trazas de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980582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EE83B-4821-4DDF-83CA-DE702F0C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C7B4C-58B6-4FA1-8AC1-3B9A8B5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PRODUCTOS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E2234-364B-49EF-8DDA-348AACE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Producto: edición y eliminación mantienen la consistencia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A96E4-66D1-477A-9668-566B549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FB687-C235-45CF-A73D-C63CB2DC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B7174-8003-4CB4-9464-F553E3F92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6c2015f684928"/>
          <a:stretch xmlns:a="http://schemas.openxmlformats.org/drawingml/2006/main"/>
        </p:blipFill>
        <p:spPr>
          <a:xfrm xmlns:a="http://schemas.openxmlformats.org/drawingml/2006/main">
            <a:off x="666750" y="1848031"/>
            <a:ext cx="4953000" cy="2876188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4A611-24D9-4E7A-BC03-00A306EEC0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5bf03423f4342"/>
          <a:stretch xmlns:a="http://schemas.openxmlformats.org/drawingml/2006/main"/>
        </p:blipFill>
        <p:spPr>
          <a:xfrm xmlns:a="http://schemas.openxmlformats.org/drawingml/2006/main">
            <a:off x="6334125" y="1867623"/>
            <a:ext cx="4953000" cy="2837003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CC1E0-7A27-467B-AC92-AFD12DFE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Patrón POST → validación → repositorio → redirección. La redirección posterior evita que actualizar la página repita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1767519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F61E6-8CF0-4888-971F-557C439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D80AC-9E58-43E3-866D-DA5DBCD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0DE5C-3897-4CC4-AACE-201D2AAF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CRUD de socios: una entidad propia, no un campo del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F1CFD-CAAD-409B-9A46-082FF3D7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97E0C-956A-4442-8FD4-0637F47A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58BF0-520A-4EA8-8ADE-A9674C31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Responsabilidad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A8939-CDDD-4EFC-8D46-CE9D6511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SocioRepositorio encapsula listar, buscarPorId, crear, actualizar, eliminar y contar productos asociados.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5AC5A-4785-4749-887B-8BF6FF20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Integridad antes de borrar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71B8E-A73C-4018-891C-CF15E0CD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Antes del DELETE se cuenta cuántos productos usan al socio. Si existe dependencia, la aplicación explica el conflicto.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52D6C-D6BC-48A9-A4BC-6F685B8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Datos mostrados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3472C-44AF-470E-B872-7892B92D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lista y el detalle de socio muestran datos que provienen de la relación real, no de una copia de texto.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D7D96-AD51-4A44-B1A8-73EE8B240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c9bacd2ff4f83"/>
          <a:stretch xmlns:a="http://schemas.openxmlformats.org/drawingml/2006/main"/>
        </p:blipFill>
        <p:spPr>
          <a:xfrm xmlns:a="http://schemas.openxmlformats.org/drawingml/2006/main">
            <a:off x="6286500" y="1878211"/>
            <a:ext cx="4667250" cy="2625328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</p:spTree>
    <p:extLst>
      <p:ext uri="{BB962C8B-B14F-4D97-AF65-F5344CB8AC3E}">
        <p14:creationId xmlns:p14="http://schemas.microsoft.com/office/powerpoint/2010/main" val="12957217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735BF-077D-4B08-BDF8-37DED63D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FC98B-EFDA-43DC-8105-894695D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SOCIOS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5C8F9-F889-455C-B836-1D6B227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Socios: evidencia de alta, actualización y baja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8EEE3-5BA5-4E56-9CF4-7529E9D9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44761-23BB-44D1-B3AF-C2A2F1C1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D0242-E00D-4ED8-B7F3-D340667C1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d196d172c4152"/>
          <a:stretch xmlns:a="http://schemas.openxmlformats.org/drawingml/2006/main"/>
        </p:blipFill>
        <p:spPr>
          <a:xfrm xmlns:a="http://schemas.openxmlformats.org/drawingml/2006/main">
            <a:off x="989253" y="1619250"/>
            <a:ext cx="2688744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D39B2-2661-4CB0-A692-C6D8A678B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d683bbf0a432d"/>
          <a:stretch xmlns:a="http://schemas.openxmlformats.org/drawingml/2006/main"/>
        </p:blipFill>
        <p:spPr>
          <a:xfrm xmlns:a="http://schemas.openxmlformats.org/drawingml/2006/main">
            <a:off x="4751628" y="1619250"/>
            <a:ext cx="2688744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B3BDA-AE39-4526-B4D7-1D08E95FF8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e3dbe5efb44b0"/>
          <a:stretch xmlns:a="http://schemas.openxmlformats.org/drawingml/2006/main"/>
        </p:blipFill>
        <p:spPr>
          <a:xfrm xmlns:a="http://schemas.openxmlformats.org/drawingml/2006/main">
            <a:off x="8448708" y="1619250"/>
            <a:ext cx="2819334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C7983-F313-4685-A044-64CE49C5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La demostración debe nombrar las cuatro operaciones: alta, lectura en el listado, modificación y baja. Si el socio tiene productos, la baja se bloquea para preservar la FK.</a:t>
            </a:r>
          </a:p>
        </p:txBody>
      </p:sp>
    </p:spTree>
    <p:extLst>
      <p:ext uri="{BB962C8B-B14F-4D97-AF65-F5344CB8AC3E}">
        <p14:creationId xmlns:p14="http://schemas.microsoft.com/office/powerpoint/2010/main" val="10713381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6DF6D-F44C-44E6-B228-F93F3E2E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6BB34-C0B4-4FD7-A4D3-5F1C378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CALIDAD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36A62-0F63-4B0E-A8F0-648E93B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Validación y errores: mensajes útiles sin revelar detalles internos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6A0A9-2210-4373-80D0-C8CCF1E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6385C-9B96-41DD-9ABC-CC34D10D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848F-610C-49F9-9C4E-1874175EC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a1067bafd4d52"/>
          <a:stretch xmlns:a="http://schemas.openxmlformats.org/drawingml/2006/main"/>
        </p:blipFill>
        <p:spPr>
          <a:xfrm xmlns:a="http://schemas.openxmlformats.org/drawingml/2006/main">
            <a:off x="778329" y="1666875"/>
            <a:ext cx="4729843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0C288-9DF3-40F3-B126-1DC2B2AD772B}"/>
              </a:ext>
            </a:extLst>
          </p:cNvPr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50482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95500"/>
                <a:gridCol w="1524000"/>
              </a:tblGrid>
              <a:tr h="5524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Situación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Respuesta al usuario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Protección adicional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Campo inválido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422 + mensaje por campo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No se ejecuta SQL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ID inexistente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404 + página controlada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No se filtra información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Socio con productos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409 + explicación de conflicto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No rompe integridad referencial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Fallo inesperado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500 + código de referencia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Detalle queda solo en log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1940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4EAF6-7ADA-43AE-9D81-C2AA8F1F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4C3EC-B73E-4415-B16E-55B8E86B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8649F-F482-4C6B-B0B6-F4590D79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Prueba de inyección SQL: el ataque se trata como 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74100-F66B-453F-ADB1-76E083E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DEDEE-A994-48FE-BA2B-6FE2283A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362EF-D334-46D6-9927-2D9F4BC9F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c512f03554bf4"/>
          <a:stretch xmlns:a="http://schemas.openxmlformats.org/drawingml/2006/main"/>
        </p:blipFill>
        <p:spPr>
          <a:xfrm xmlns:a="http://schemas.openxmlformats.org/drawingml/2006/main">
            <a:off x="6191250" y="1728215"/>
            <a:ext cx="4857750" cy="2782445"/>
          </a:xfrm>
          <a:prstGeom xmlns:a="http://schemas.openxmlformats.org/drawingml/2006/main" prst="roundRect">
            <a:avLst>
              <a:gd name="adj" fmla="val 24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5C3E6-9D95-4DBB-88DA-D27B31A9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Entrada de prueba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A0571-4439-47C0-AA75-641678F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33B32"/>
                </a:solidFill>
                <a:latin typeface="Arial"/>
                <a:ea typeface="Arial"/>
                <a:cs typeface="Arial"/>
              </a:rPr>
              <a:t>zzz' OR 1=1 --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A7D20-3BBD-4220-A346-926BF9ED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Resultado observado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B9E8B-0FE5-462D-BEDE-08F7A7A8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búsqueda devuelve 0 productos; no expande el resultado a todas las filas.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DE4A3-D209-4DAE-9A2B-0256958D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Por qué resiste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E9F8F-1A77-410F-9305-892DD16F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consulta usa marcadores PDO, LIKE se escapa y el valor se enlaza como dato. No llega a formar parte de la gramática SQL.</a:t>
            </a:r>
          </a:p>
        </p:txBody>
      </p:sp>
    </p:spTree>
    <p:extLst>
      <p:ext uri="{BB962C8B-B14F-4D97-AF65-F5344CB8AC3E}">
        <p14:creationId xmlns:p14="http://schemas.microsoft.com/office/powerpoint/2010/main" val="2744594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340A3-3C49-426F-9CA9-A4CC9201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70295-8920-4F6D-B3FB-E96615A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C37A4-370A-4F57-B8A4-CB771A0E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XSS y CSRF: seguridad también es cómo se recibe y muestra 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1B2B5-DF69-4400-9CBA-43CA0740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82364-FCE5-433B-AC67-69B49BB9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19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641D2-5F33-4E96-9B8F-A8F4DF80C9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d4a40e5ae4113"/>
          <a:stretch xmlns:a="http://schemas.openxmlformats.org/drawingml/2006/main"/>
        </p:blipFill>
        <p:spPr>
          <a:xfrm xmlns:a="http://schemas.openxmlformats.org/drawingml/2006/main">
            <a:off x="666750" y="1819998"/>
            <a:ext cx="4953000" cy="2837003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85DFA-149D-4561-BC3D-A49FA329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Salida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4AE91-9B9E-4D21-950F-3D1B0E2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240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Las vistas usan htmlspecialchars() para que etiquetas y comillas se muestren como texto, no como código ejecutable.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83C97-BB46-470C-90C6-1B3F6BAF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CSRF en operaciones mutables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D389B-C2A8-4F78-8830-58F22EF0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670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Los POST incluyen y verifican un token almacenado en sesión. Crear, editar o eliminar no depende de un enlace 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E41A4-435C-4136-A82A-9D33923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Codificación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835BC-67DF-4CD6-9DDF-E4C73DD5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00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Los parámetros que vuelven a enlaces se codifican para preservar filtros sin inyectar contenido en el HTML.</a:t>
            </a:r>
          </a:p>
        </p:txBody>
      </p:sp>
    </p:spTree>
    <p:extLst>
      <p:ext uri="{BB962C8B-B14F-4D97-AF65-F5344CB8AC3E}">
        <p14:creationId xmlns:p14="http://schemas.microsoft.com/office/powerpoint/2010/main" val="8503214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09FD0-DC92-4F4A-B2B6-31CFA2F1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C2768-9EF9-4CFB-B9E3-F2D95F15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F47BA-4DF7-45C6-935D-15297FE0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Paginación numérica: mostrar una ventana y el total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01E51-3251-40D5-A2BC-EEE941BC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0EAF3-5C33-4297-86B9-9A05CCEE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D6AB1-6F91-4403-A1C0-96CEFDE18F82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5334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714750"/>
              </a:tblGrid>
              <a:tr h="5429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Paso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Cálculo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1. Sanitizar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pagina = entero; mínimo 1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2. Contar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SELECT COUNT(*) con los mismos filtros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3. Limitar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LIMIT 10 OFFSET (pagina − 1) × 10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4. Presentar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“Mostrando 11–20 de 36” + enlaces conservando filtros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9AE18-D53D-4D76-8914-4E971DBC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57375"/>
            <a:ext cx="3762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C9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77DC3-88AC-4B7A-9418-D01B3D8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F74AA-0E7F-485F-BA88-9EEB98D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página 2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10 filas por página</a:t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OFFSET = (2 − 1) × 10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El servidor solo retorna el segmento solicitado.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D586-D8B3-484E-8592-B8F86AD9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El conteo se ejecuta con los mismos filtros para que el rango y la navegación sean veraces.</a:t>
            </a:r>
          </a:p>
        </p:txBody>
      </p:sp>
    </p:spTree>
    <p:extLst>
      <p:ext uri="{BB962C8B-B14F-4D97-AF65-F5344CB8AC3E}">
        <p14:creationId xmlns:p14="http://schemas.microsoft.com/office/powerpoint/2010/main" val="1175450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DBCD8-B4C6-4824-AD5C-127D4DF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29CA-2D04-4C7F-8A3C-E43A86F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1339D-6C29-4AC1-8D6A-A3A552D3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Paginación por clave: continuar después del último ID visto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E86FC-ED59-43B0-90BF-8F6F24DD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9EBB9-3770-4861-AC78-16FCE01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67F7E-FD6F-41CD-8B86-0BE0FFE98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52c5adb78443d"/>
          <a:stretch xmlns:a="http://schemas.openxmlformats.org/drawingml/2006/main"/>
        </p:blipFill>
        <p:spPr>
          <a:xfrm xmlns:a="http://schemas.openxmlformats.org/drawingml/2006/main">
            <a:off x="7053467" y="1619250"/>
            <a:ext cx="3323816" cy="3000375"/>
          </a:xfrm>
          <a:prstGeom xmlns:a="http://schemas.openxmlformats.org/drawingml/2006/main" prst="roundRect">
            <a:avLst>
              <a:gd name="adj" fmla="val 254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E5B9-877D-4C49-A973-29FFF37C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Consulta conceptual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1E43E-4E9A-496F-A67B-CF034D78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5A93"/>
                </a:solidFill>
                <a:latin typeface="Arial"/>
                <a:ea typeface="Arial"/>
                <a:cs typeface="Arial"/>
              </a:rPr>
              <a:t>WHERE id &gt; :ultimoId</a:t>
            </a:r>
          </a:p>
          <a:p xmlns:a="http://schemas.openxmlformats.org/drawingml/2006/main">
            <a: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5A93"/>
                </a:solidFill>
                <a:latin typeface="Arial"/>
                <a:ea typeface="Arial"/>
                <a:cs typeface="Arial"/>
              </a:rPr>
              <a:t>ORDER BY id ASC</a:t>
            </a:r>
          </a:p>
          <a:p xmlns:a="http://schemas.openxmlformats.org/drawingml/2006/main">
            <a:pPr>
              <a:defRPr sz="1500" b="1" i="0">
                <a:solidFill>
                  <a:srgbClr val="315A9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5A93"/>
                </a:solidFill>
                <a:latin typeface="Arial"/>
                <a:ea typeface="Arial"/>
                <a:cs typeface="Arial"/>
              </a:rPr>
              <a:t>LIMIT :limite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418D3-1289-4353-80DF-DE2422E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Ventaja técnica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2B0F3-5691-4505-9A78-24461BE8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No necesita que MySQL descarte todas las filas anteriores; continúa desde una clave conocida.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BD541-5BB5-4D49-82A5-493C353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Uso correcto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E7C4E-1F91-4FB6-B0F8-4D782D3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aplicación conserva filtros y usa el último ID retornado como cursor para la página siguiente.</a:t>
            </a:r>
          </a:p>
        </p:txBody>
      </p:sp>
    </p:spTree>
    <p:extLst>
      <p:ext uri="{BB962C8B-B14F-4D97-AF65-F5344CB8AC3E}">
        <p14:creationId xmlns:p14="http://schemas.microsoft.com/office/powerpoint/2010/main" val="1739767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9E893-1580-4257-A715-5244C0C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4727A-36B1-4849-B66F-C87A6BCC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8A428-19A7-4E67-A044-DEEF72F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Índices: se diseñan a partir de filtros y relaciones reales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96DDA-0AE2-46AE-8517-E42868E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9A780-CF8B-4892-A420-4DEFB402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70C40-0B63-4C2B-B671-35CE8E2829D0}"/>
              </a:ext>
            </a:extLst>
          </p:cNvPr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11144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572000"/>
              </a:tblGrid>
              <a:tr h="5905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Índice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Consulta apoyada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Razón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productos(categoria_id)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Filtro por categoría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Reduce exploración cuando se selecciona una categoría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productos(socio_id)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Detalle / conteo de socio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Resuelve la relación sin recorrido completo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productos(nombre)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Búsqueda y orden de listado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Apoya operaciones frecuentes de catálogo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productos(precio)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Orden por precio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Evita trabajo adicional según plan elegido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8C273-AF7D-4C66-85A7-0DFF275C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Un índice añade costo a INSERT/UPDATE/DELETE. Por eso se justifican según patrones observados: filtros de categoría y socio, orden del catálogo y navegación.</a:t>
            </a:r>
          </a:p>
        </p:txBody>
      </p:sp>
    </p:spTree>
    <p:extLst>
      <p:ext uri="{BB962C8B-B14F-4D97-AF65-F5344CB8AC3E}">
        <p14:creationId xmlns:p14="http://schemas.microsoft.com/office/powerpoint/2010/main" val="5171499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C0392-301C-4294-9CA3-440A170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1DF48-3D47-4518-B17F-A4B3CC7B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E1120-F3B9-44D5-87BE-1DA75D0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EXPLAIN: medición transparente, no una promesa de velocidad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2EB3F-0BC5-4AC4-9DD9-504A519B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1ADF1-9F45-4CA6-B398-E334B97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1023F-FDA8-455E-BAC5-1EDDEEFB1167}"/>
              </a:ext>
            </a:extLst>
          </p:cNvPr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714500"/>
                <a:gridCol w="2000250"/>
                <a:gridCol w="4667250"/>
              </a:tblGrid>
              <a:tr h="5905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Filas leídas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Mediana observada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Lectura honesta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Sin índice de categoría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0.6655 ms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Explora más registros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Con índice de categoría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0.7093 ms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Lee menos, pero no mejora la latencia en muestra pequeña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OFFSET página 4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0.7631 ms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Descarta filas previas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Cursor por ID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0.8207 ms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Lee solo la página solicitada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00C47-7BF7-47D1-805A-698ECF38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Conclusión técnica: el plan evidencia menos lecturas con índice y cursor. La diferencia de tiempo es demasiado pequeña y local para afirmar un beneficio de latencia; se documenta como limitación.</a:t>
            </a:r>
          </a:p>
        </p:txBody>
      </p:sp>
    </p:spTree>
    <p:extLst>
      <p:ext uri="{BB962C8B-B14F-4D97-AF65-F5344CB8AC3E}">
        <p14:creationId xmlns:p14="http://schemas.microsoft.com/office/powerpoint/2010/main" val="2447818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443D4-00B3-41EE-95D0-DE020D89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8FEF2-1068-4F93-9E33-B89714FE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7BC22-6513-4699-8432-8E7A5D0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Verificación: 48 de 48 pruebas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1085C-522F-4A1A-AC05-8AD1716D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228BD-0521-497C-B55E-4C24961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2F44D-39D0-402C-98CC-CF82864F4A5B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69532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857750"/>
              </a:tblGrid>
              <a:tr h="49666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Bloque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Qué verifica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Persistencia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Carga de productos y socios, relaciones y datos esperados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Listado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Filtros por categoría/texto, orden permitido y conteo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Paginación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Límites, offset, cursor, páginas fuera de rango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CRUD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Crear, editar y eliminar productos y socios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Seguridad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SQLi, escape XSS, token CSRF y errores controlados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HTTP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Rutas, redirecciones, 404, 409, 422 y 500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60296-4C65-40AB-B0F4-8B8A417F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619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8"/>
          </a:solidFill>
          <a:ln xmlns:a="http://schemas.openxmlformats.org/drawingml/2006/main" w="4763">
            <a:solidFill>
              <a:srgbClr val="377A5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E1B80-60DA-4A34-9E8B-1D49C573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defPPr>
            <a:lvl1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1pPr>
            <a:lvl2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2pPr>
            <a:lvl3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3pPr>
            <a:lvl4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4pPr>
            <a:lvl5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5pPr>
            <a:lvl6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6pPr>
            <a:lvl7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7pPr>
            <a:lvl8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8pPr>
            <a:lvl9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 i="0">
                <a:solidFill>
                  <a:srgbClr val="377A5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77A5A"/>
                </a:solidFill>
                <a:latin typeface="Arial"/>
                <a:ea typeface="Arial"/>
                <a:cs typeface="Arial"/>
              </a:rPr>
              <a:t>48 / 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93D40-641F-4864-810B-49934AC8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comprobaciones</a:t>
            </a:r>
          </a:p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B8208-73C9-41A5-A9D9-D42F9DBD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862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prueba no reemplaza la defensa: permite repetir y verificar el comportamiento mostrado.</a:t>
            </a:r>
          </a:p>
        </p:txBody>
      </p:sp>
    </p:spTree>
    <p:extLst>
      <p:ext uri="{BB962C8B-B14F-4D97-AF65-F5344CB8AC3E}">
        <p14:creationId xmlns:p14="http://schemas.microsoft.com/office/powerpoint/2010/main" val="16028238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1E72E-3B10-40FE-9013-7D8E9CAA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659D5-F3DB-4291-B785-CF147EC9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723CA-0459-4F6A-A8D2-5B166F9D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Reproducción: cómo levantar y verificar 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EA1FC-9ACA-4757-B7DA-0D440F04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D1A4D-0C71-4E2E-90A8-C759F250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260F1-D46F-46A3-AFDB-244E7E7D2311}"/>
              </a:ext>
            </a:extLst>
          </p:cNvPr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6191250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Orden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Comando / acción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cd aplicacion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docker compose up -d mysql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composer dump-autoload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php bin/importar_json.php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php verificar.php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php -S 127.0.0.1:8020 -t public public/index.php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1D668-C722-4479-9082-1BDA2921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Datos privados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0DA22-02B5-4F26-B268-7FD1C6C9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24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Crear .env desde .env.example y completar credenciales locales. El archivo real no se sube al repositorio.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29636-006E-44F5-B69B-3B36879C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Demostración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BE26E-31DE-474B-B154-66F03BD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Abrir /productos, /socios y ejecutar los casos de seguridad documentados.</a:t>
            </a:r>
          </a:p>
        </p:txBody>
      </p:sp>
    </p:spTree>
    <p:extLst>
      <p:ext uri="{BB962C8B-B14F-4D97-AF65-F5344CB8AC3E}">
        <p14:creationId xmlns:p14="http://schemas.microsoft.com/office/powerpoint/2010/main" val="1589119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98BA8-B341-47F8-A9B8-4F79775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986FD-30A3-405E-A7A7-91C4D14D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EVALUACIÓN CRÍTICA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3C9B8-EEEE-4CF8-983A-21B57E1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Alcance y límites: qué se logró y qué sigue siendo mejorable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6FF29-A9CF-4352-B1DA-1D49D3C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5E803-C177-4F4C-881E-13B09C3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8A8C1-42B2-49A9-A5AF-EE28FA0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Logrado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A7EFF-FE1C-4406-A81C-FC8C5E7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Migración relacional, CRUD completo, PDO nativo, validación, paginación doble, seguridad y pruebas automatizadas.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D7317-5BAF-4FF3-89C9-331712EF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Límite medido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FDDC1-CC51-43DD-B4A7-7DA17C5C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El conjunto de datos es pequeño. EXPLAIN evidencia menos lecturas, pero los tiempos locales no muestran una ganancia concluyente.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108F4-3C42-4A40-B4AB-A012BE31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Mejoras futuras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0C006-0BB7-4758-9FC3-E16FD868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Pruebas de carga con más datos, autenticación y autorización, copias de respaldo, auditoría y despliegue con TLS.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7CB9B-B2C9-4273-8B18-95C9D6A8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90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C79C7-FB24-45F2-A058-CA87FC83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Criterio de calidad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55B91-012F-42D1-841D-C87266F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Documentar límites evita conclusiones engañosas.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13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235"/>
                </a:solidFill>
                <a:latin typeface="Arial"/>
                <a:ea typeface="Arial"/>
                <a:cs typeface="Arial"/>
              </a:rPr>
              <a:t>La evidencia indica eficiencia de lectura; no basta para afirmar una mejora universal de tiempo de respuesta.</a:t>
            </a:r>
          </a:p>
        </p:txBody>
      </p:sp>
    </p:spTree>
    <p:extLst>
      <p:ext uri="{BB962C8B-B14F-4D97-AF65-F5344CB8AC3E}">
        <p14:creationId xmlns:p14="http://schemas.microsoft.com/office/powerpoint/2010/main" val="16203830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D7E5E-598A-4021-AD3F-86F2DD6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A75E3-2BDB-4FEA-8276-8522A8F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0864D-D1CB-49DF-B2CE-165DAEB8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Guion para la defensa: una ruta clara en 7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70667-7A1A-4A30-A7B0-933D138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8A60F-FFBD-40A7-8344-B9E32854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B114B-CBB2-4ECF-9A62-B2E6CD626512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111442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857500"/>
                <a:gridCol w="6858000"/>
              </a:tblGrid>
              <a:tr h="48305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Tiempo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Qué mostrar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Mensaje clave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0:00–0:45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Problema y objetivo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JSON se migra a un modelo relacional seguro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0:45–1:45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DER + SQL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Las FK, UNIQUE, CHECK e índices aseguran calidad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1:45–3:15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Productos y socios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Dos CRUD reales, repositorios y validación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3:15–4:15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Paginación + EXPLAIN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Resultados medidos e interpretación prudente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4:15–5:30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SQLi, XSS y CSRF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Las entradas se tratan como datos y se escapan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5:30–7:00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Pruebas + conclusión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48/48 y límites reconocidos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8394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B32BD-6026-4041-9493-B2B61354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7F093-AC76-420A-A546-C7EF83C8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E6DA4-C128-457C-AD22-526014B9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Conclusión: una aplicación más consistente, segura y demostrable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28EC8-3966-4613-B69D-1937601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049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24A"/>
          </a:solidFill>
          <a:ln xmlns:a="http://schemas.openxmlformats.org/drawingml/2006/main" w="4763">
            <a:solidFill>
              <a:srgbClr val="E8B2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87472-F22D-415F-8E74-F941AFA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defPPr>
            <a:lvl1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1pPr>
            <a:lvl2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2pPr>
            <a:lvl3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3pPr>
            <a:lvl4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4pPr>
            <a:lvl5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5pPr>
            <a:lvl6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6pPr>
            <a:lvl7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7pPr>
            <a:lvl8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8pPr>
            <a:lvl9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0" i="0">
                <a:solidFill>
                  <a:srgbClr val="5F677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F6771"/>
                </a:solidFill>
                <a:latin typeface="Arial"/>
                <a:ea typeface="Arial"/>
                <a:cs typeface="Arial"/>
              </a:rPr>
              <a:t>Actividad 02 ·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B1CA0-3068-4F5C-9D17-1558179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defPPr>
            <a:lvl1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1pPr>
            <a:lvl2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2pPr>
            <a:lvl3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3pPr>
            <a:lvl4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4pPr>
            <a:lvl5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5pPr>
            <a:lvl6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6pPr>
            <a:lvl7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7pPr>
            <a:lvl8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8pPr>
            <a:lvl9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20324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03247"/>
                </a:solidFill>
                <a:latin typeface="Arial"/>
                <a:ea typeface="Arial"/>
                <a:cs typeface="Arial"/>
              </a:rPr>
              <a:t>La migración convierte un catálogo de datos planos en una aplicación con reglas verificables.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F8135-112F-45D1-9622-7A38D9B19308}"/>
              </a:ext>
            </a:extLst>
          </p:cNvPr>
          <p:cNvGraphicFramePr/>
          <p:nvPr/>
        </p:nvGraphicFramePr>
        <p:xfrm>
          <a:off xmlns:a="http://schemas.openxmlformats.org/drawingml/2006/main" x="523875" y="2571750"/>
          <a:ext xmlns:a="http://schemas.openxmlformats.org/drawingml/2006/main" cx="8001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191250"/>
              </a:tblGrid>
              <a:tr h="5143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FFF0C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Datos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Modelo normalizado con integridad referencial y script reproducible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Aplicación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CRUD de productos y socios, repositorios PDO y paginación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Seguridad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SQL parametrizado, validación, XSS escapado, CSRF y manejo de errores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32235"/>
                          </a:solidFill>
                          <a:latin typeface="Arial"/>
                          <a:ea typeface="Arial"/>
                          <a:cs typeface="Arial"/>
                        </a:rPr>
                        <a:t>Capturas, EXPLAIN, 48 pruebas, informe APA 7 y bitácora IA</a:t>
                      </a:r>
                    </a:p>
                  </a:txBody>
                  <a:tcPr marL="91440" marR="91440" marT="45720" marB="45720">
                    <a:solidFill>
                      <a:srgbClr val="FFF7E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FDACB-D445-4378-BC53-C4895C9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333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305"/>
          </a:solidFill>
          <a:ln xmlns:a="http://schemas.openxmlformats.org/drawingml/2006/main" w="4763">
            <a:solidFill>
              <a:srgbClr val="B8530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B3D4F-5060-492A-BAB3-71DE58C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FE9B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E9B0"/>
                </a:solidFill>
                <a:latin typeface="Arial"/>
                <a:ea typeface="Arial"/>
                <a:cs typeface="Arial"/>
              </a:rPr>
              <a:t>Repositorio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A6092-52BE-471F-93B5-0A8B2F4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</a:t>
            </a:r>
          </a:p>
          <a:p xmlns:a="http://schemas.openxmlformats.org/drawingml/2006/main">
            <a: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ROXIAN120/</a:t>
            </a:r>
          </a:p>
          <a:p xmlns:a="http://schemas.openxmlformats.org/drawingml/2006/main">
            <a: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Actividad-1-</a:t>
            </a:r>
          </a:p>
          <a:p xmlns:a="http://schemas.openxmlformats.org/drawingml/2006/main">
            <a:pPr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tecnologia-web-2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E9999-5E39-4CB7-867C-3C939515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defPPr>
            <a:lvl1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1pPr>
            <a:lvl2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2pPr>
            <a:lvl3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3pPr>
            <a:lvl4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4pPr>
            <a:lvl5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5pPr>
            <a:lvl6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6pPr>
            <a:lvl7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7pPr>
            <a:lvl8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8pPr>
            <a:lvl9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B8530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85305"/>
                </a:solidFill>
                <a:latin typeface="Arial"/>
                <a:ea typeface="Arial"/>
                <a:cs typeface="Arial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900556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2026-10-19T23:33:05.3690000Z</dcterms:created>
  <dcterms:modified xsi:type="dcterms:W3CDTF">2026-10-19T23:33:05.3690000Z</dcterms:modified>
</coreProperties>
</file>